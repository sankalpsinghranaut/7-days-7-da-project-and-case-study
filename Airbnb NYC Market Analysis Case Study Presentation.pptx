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anva Sans Bold" charset="1" panose="020B0803030501040103"/>
      <p:regular r:id="rId22"/>
    </p:embeddedFont>
    <p:embeddedFont>
      <p:font typeface="Inter Bold" charset="1" panose="02000503000000020004"/>
      <p:regular r:id="rId23"/>
    </p:embeddedFont>
    <p:embeddedFont>
      <p:font typeface="Inter" charset="1" panose="02000503000000020004"/>
      <p:regular r:id="rId24"/>
    </p:embeddedFont>
    <p:embeddedFont>
      <p:font typeface="Inter Italics" charset="1" panose="020005030000000200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embeddings/oleObject1.bin" Type="http://schemas.openxmlformats.org/officeDocument/2006/relationships/oleObjec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5657"/>
          </a:xfrm>
          <a:custGeom>
            <a:avLst/>
            <a:gdLst/>
            <a:ahLst/>
            <a:cxnLst/>
            <a:rect r="r" b="b" t="t" l="l"/>
            <a:pathLst>
              <a:path h="10285657" w="18288000">
                <a:moveTo>
                  <a:pt x="0" y="0"/>
                </a:moveTo>
                <a:lnTo>
                  <a:pt x="18288000" y="0"/>
                </a:lnTo>
                <a:lnTo>
                  <a:pt x="18288000" y="10285657"/>
                </a:lnTo>
                <a:lnTo>
                  <a:pt x="0" y="10285657"/>
                </a:lnTo>
                <a:lnTo>
                  <a:pt x="0" y="0"/>
                </a:lnTo>
                <a:close/>
              </a:path>
            </a:pathLst>
          </a:custGeom>
          <a:blipFill>
            <a:blip r:embed="rId2">
              <a:alphaModFix amt="69000"/>
            </a:blip>
            <a:stretch>
              <a:fillRect l="0" t="0" r="-108" b="0"/>
            </a:stretch>
          </a:blipFill>
        </p:spPr>
      </p:sp>
      <p:sp>
        <p:nvSpPr>
          <p:cNvPr name="Freeform 3" id="3"/>
          <p:cNvSpPr/>
          <p:nvPr/>
        </p:nvSpPr>
        <p:spPr>
          <a:xfrm flipH="false" flipV="false" rot="0">
            <a:off x="1277924" y="595752"/>
            <a:ext cx="3069804" cy="3069804"/>
          </a:xfrm>
          <a:custGeom>
            <a:avLst/>
            <a:gdLst/>
            <a:ahLst/>
            <a:cxnLst/>
            <a:rect r="r" b="b" t="t" l="l"/>
            <a:pathLst>
              <a:path h="3069804" w="3069804">
                <a:moveTo>
                  <a:pt x="0" y="0"/>
                </a:moveTo>
                <a:lnTo>
                  <a:pt x="3069804" y="0"/>
                </a:lnTo>
                <a:lnTo>
                  <a:pt x="3069804" y="3069804"/>
                </a:lnTo>
                <a:lnTo>
                  <a:pt x="0" y="30698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277924" y="5505715"/>
            <a:ext cx="9515188" cy="1905000"/>
          </a:xfrm>
          <a:prstGeom prst="rect">
            <a:avLst/>
          </a:prstGeom>
        </p:spPr>
        <p:txBody>
          <a:bodyPr anchor="t" rtlCol="false" tIns="0" lIns="0" bIns="0" rIns="0">
            <a:spAutoFit/>
          </a:bodyPr>
          <a:lstStyle/>
          <a:p>
            <a:pPr algn="l">
              <a:lnSpc>
                <a:spcPts val="7425"/>
              </a:lnSpc>
            </a:pPr>
            <a:r>
              <a:rPr lang="en-US" sz="6750" b="true">
                <a:solidFill>
                  <a:srgbClr val="000000"/>
                </a:solidFill>
                <a:latin typeface="Canva Sans Bold"/>
                <a:ea typeface="Canva Sans Bold"/>
                <a:cs typeface="Canva Sans Bold"/>
                <a:sym typeface="Canva Sans Bold"/>
              </a:rPr>
              <a:t>Ai</a:t>
            </a:r>
            <a:r>
              <a:rPr lang="en-US" b="true" sz="6750">
                <a:solidFill>
                  <a:srgbClr val="000000"/>
                </a:solidFill>
                <a:latin typeface="Canva Sans Bold"/>
                <a:ea typeface="Canva Sans Bold"/>
                <a:cs typeface="Canva Sans Bold"/>
                <a:sym typeface="Canva Sans Bold"/>
              </a:rPr>
              <a:t>rbnb NYC Market Analysis</a:t>
            </a:r>
          </a:p>
        </p:txBody>
      </p:sp>
      <p:sp>
        <p:nvSpPr>
          <p:cNvPr name="TextBox 5" id="5"/>
          <p:cNvSpPr txBox="true"/>
          <p:nvPr/>
        </p:nvSpPr>
        <p:spPr>
          <a:xfrm rot="0">
            <a:off x="1470732" y="7606551"/>
            <a:ext cx="10166614" cy="455295"/>
          </a:xfrm>
          <a:prstGeom prst="rect">
            <a:avLst/>
          </a:prstGeom>
        </p:spPr>
        <p:txBody>
          <a:bodyPr anchor="t" rtlCol="false" tIns="0" lIns="0" bIns="0" rIns="0">
            <a:spAutoFit/>
          </a:bodyPr>
          <a:lstStyle/>
          <a:p>
            <a:pPr algn="l">
              <a:lnSpc>
                <a:spcPts val="3824"/>
              </a:lnSpc>
            </a:pPr>
            <a:r>
              <a:rPr lang="en-US" b="true" sz="2549">
                <a:solidFill>
                  <a:srgbClr val="000000"/>
                </a:solidFill>
                <a:latin typeface="Canva Sans Bold"/>
                <a:ea typeface="Canva Sans Bold"/>
                <a:cs typeface="Canva Sans Bold"/>
                <a:sym typeface="Canva Sans Bold"/>
              </a:rPr>
              <a:t>Pricing Strategy, Demand Patterns &amp; Host Performance Analysis</a:t>
            </a:r>
          </a:p>
        </p:txBody>
      </p:sp>
      <p:grpSp>
        <p:nvGrpSpPr>
          <p:cNvPr name="Group 6" id="6"/>
          <p:cNvGrpSpPr/>
          <p:nvPr/>
        </p:nvGrpSpPr>
        <p:grpSpPr>
          <a:xfrm rot="0">
            <a:off x="15229302" y="8892857"/>
            <a:ext cx="8320907" cy="789307"/>
            <a:chOff x="0" y="0"/>
            <a:chExt cx="11094542" cy="1052409"/>
          </a:xfrm>
        </p:grpSpPr>
        <p:sp>
          <p:nvSpPr>
            <p:cNvPr name="TextBox 7" id="7"/>
            <p:cNvSpPr txBox="true"/>
            <p:nvPr/>
          </p:nvSpPr>
          <p:spPr>
            <a:xfrm rot="0">
              <a:off x="0" y="-57150"/>
              <a:ext cx="11094542" cy="461011"/>
            </a:xfrm>
            <a:prstGeom prst="rect">
              <a:avLst/>
            </a:prstGeom>
          </p:spPr>
          <p:txBody>
            <a:bodyPr anchor="t" rtlCol="false" tIns="0" lIns="0" bIns="0" rIns="0">
              <a:spAutoFit/>
            </a:bodyPr>
            <a:lstStyle/>
            <a:p>
              <a:pPr algn="l">
                <a:lnSpc>
                  <a:spcPts val="3074"/>
                </a:lnSpc>
              </a:pPr>
              <a:r>
                <a:rPr lang="en-US" b="true" sz="2049" spc="68">
                  <a:solidFill>
                    <a:srgbClr val="000000"/>
                  </a:solidFill>
                  <a:latin typeface="Canva Sans Bold"/>
                  <a:ea typeface="Canva Sans Bold"/>
                  <a:cs typeface="Canva Sans Bold"/>
                  <a:sym typeface="Canva Sans Bold"/>
                </a:rPr>
                <a:t>Project Done By:</a:t>
              </a:r>
            </a:p>
          </p:txBody>
        </p:sp>
        <p:sp>
          <p:nvSpPr>
            <p:cNvPr name="TextBox 8" id="8"/>
            <p:cNvSpPr txBox="true"/>
            <p:nvPr/>
          </p:nvSpPr>
          <p:spPr>
            <a:xfrm rot="0">
              <a:off x="0" y="453391"/>
              <a:ext cx="10740216" cy="599018"/>
            </a:xfrm>
            <a:prstGeom prst="rect">
              <a:avLst/>
            </a:prstGeom>
          </p:spPr>
          <p:txBody>
            <a:bodyPr anchor="t" rtlCol="false" tIns="0" lIns="0" bIns="0" rIns="0">
              <a:spAutoFit/>
            </a:bodyPr>
            <a:lstStyle/>
            <a:p>
              <a:pPr algn="l">
                <a:lnSpc>
                  <a:spcPts val="3999"/>
                </a:lnSpc>
              </a:pPr>
              <a:r>
                <a:rPr lang="en-US" sz="2499" b="true">
                  <a:solidFill>
                    <a:srgbClr val="000000"/>
                  </a:solidFill>
                  <a:latin typeface="Canva Sans Bold"/>
                  <a:ea typeface="Canva Sans Bold"/>
                  <a:cs typeface="Canva Sans Bold"/>
                  <a:sym typeface="Canva Sans Bold"/>
                </a:rPr>
                <a:t>Sankalp Singh</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flipV="true">
            <a:off x="1062038" y="752873"/>
            <a:ext cx="0" cy="453615"/>
          </a:xfrm>
          <a:prstGeom prst="line">
            <a:avLst/>
          </a:prstGeom>
          <a:ln cap="flat" w="66675">
            <a:solidFill>
              <a:srgbClr val="2563EB"/>
            </a:solidFill>
            <a:prstDash val="solid"/>
            <a:headEnd type="none" len="sm" w="sm"/>
            <a:tailEnd type="none" len="sm" w="sm"/>
          </a:ln>
        </p:spPr>
      </p:sp>
      <p:graphicFrame>
        <p:nvGraphicFramePr>
          <p:cNvPr name="Object 3" id="3"/>
          <p:cNvGraphicFramePr/>
          <p:nvPr/>
        </p:nvGraphicFramePr>
        <p:xfrm>
          <a:off x="12413151" y="2643758"/>
          <a:ext cx="3771900" cy="3771900"/>
        </p:xfrm>
        <a:graphic>
          <a:graphicData uri="http://schemas.openxmlformats.org/presentationml/2006/ole">
            <p:oleObj imgW="4521200" imgH="452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4" id="4"/>
          <p:cNvSpPr txBox="true"/>
          <p:nvPr/>
        </p:nvSpPr>
        <p:spPr>
          <a:xfrm rot="0">
            <a:off x="1247746" y="658622"/>
            <a:ext cx="4962741" cy="609564"/>
          </a:xfrm>
          <a:prstGeom prst="rect">
            <a:avLst/>
          </a:prstGeom>
        </p:spPr>
        <p:txBody>
          <a:bodyPr anchor="t" rtlCol="false" tIns="0" lIns="0" bIns="0" rIns="0">
            <a:spAutoFit/>
          </a:bodyPr>
          <a:lstStyle/>
          <a:p>
            <a:pPr algn="l">
              <a:lnSpc>
                <a:spcPts val="4860"/>
              </a:lnSpc>
            </a:pPr>
            <a:r>
              <a:rPr lang="en-US" sz="4050" b="true">
                <a:solidFill>
                  <a:srgbClr val="0F172A"/>
                </a:solidFill>
                <a:latin typeface="Inter Bold"/>
                <a:ea typeface="Inter Bold"/>
                <a:cs typeface="Inter Bold"/>
                <a:sym typeface="Inter Bold"/>
              </a:rPr>
              <a:t>Executive Summary</a:t>
            </a:r>
          </a:p>
        </p:txBody>
      </p:sp>
      <p:sp>
        <p:nvSpPr>
          <p:cNvPr name="TextBox 5" id="5"/>
          <p:cNvSpPr txBox="true"/>
          <p:nvPr/>
        </p:nvSpPr>
        <p:spPr>
          <a:xfrm rot="0">
            <a:off x="1062038" y="7778030"/>
            <a:ext cx="13487400" cy="1832229"/>
          </a:xfrm>
          <a:prstGeom prst="rect">
            <a:avLst/>
          </a:prstGeom>
        </p:spPr>
        <p:txBody>
          <a:bodyPr anchor="t" rtlCol="false" tIns="0" lIns="0" bIns="0" rIns="0">
            <a:spAutoFit/>
          </a:bodyPr>
          <a:lstStyle/>
          <a:p>
            <a:pPr algn="l" marL="447990" indent="-223995" lvl="1">
              <a:lnSpc>
                <a:spcPts val="2987"/>
              </a:lnSpc>
              <a:buFont typeface="Arial"/>
              <a:buChar char="•"/>
            </a:pPr>
            <a:r>
              <a:rPr lang="en-US" sz="2074" spc="20">
                <a:solidFill>
                  <a:srgbClr val="000000"/>
                </a:solidFill>
                <a:latin typeface="Inter"/>
                <a:ea typeface="Inter"/>
                <a:cs typeface="Inter"/>
                <a:sym typeface="Inter"/>
              </a:rPr>
              <a:t>Im</a:t>
            </a:r>
            <a:r>
              <a:rPr lang="en-US" sz="2074" spc="20">
                <a:solidFill>
                  <a:srgbClr val="000000"/>
                </a:solidFill>
                <a:latin typeface="Inter"/>
                <a:ea typeface="Inter"/>
                <a:cs typeface="Inter"/>
                <a:sym typeface="Inter"/>
              </a:rPr>
              <a:t>prove pricing strategies to maximize occupancy.</a:t>
            </a:r>
          </a:p>
          <a:p>
            <a:pPr algn="l" marL="447990" indent="-223995" lvl="1">
              <a:lnSpc>
                <a:spcPts val="2987"/>
              </a:lnSpc>
              <a:buFont typeface="Arial"/>
              <a:buChar char="•"/>
            </a:pPr>
            <a:r>
              <a:rPr lang="en-US" sz="2074" spc="20">
                <a:solidFill>
                  <a:srgbClr val="000000"/>
                </a:solidFill>
                <a:latin typeface="Inter"/>
                <a:ea typeface="Inter"/>
                <a:cs typeface="Inter"/>
                <a:sym typeface="Inter"/>
              </a:rPr>
              <a:t>Identify profitable neighborhoods and market opportunities.</a:t>
            </a:r>
          </a:p>
          <a:p>
            <a:pPr algn="l" marL="447990" indent="-223995" lvl="1">
              <a:lnSpc>
                <a:spcPts val="2987"/>
              </a:lnSpc>
              <a:buFont typeface="Arial"/>
              <a:buChar char="•"/>
            </a:pPr>
            <a:r>
              <a:rPr lang="en-US" sz="2074" spc="20">
                <a:solidFill>
                  <a:srgbClr val="000000"/>
                </a:solidFill>
                <a:latin typeface="Inter"/>
                <a:ea typeface="Inter"/>
                <a:cs typeface="Inter"/>
                <a:sym typeface="Inter"/>
              </a:rPr>
              <a:t>Evaluate host performance and customer booking patterns.</a:t>
            </a:r>
          </a:p>
          <a:p>
            <a:pPr algn="l" marL="447990" indent="-223995" lvl="1">
              <a:lnSpc>
                <a:spcPts val="2987"/>
              </a:lnSpc>
              <a:buFont typeface="Arial"/>
              <a:buChar char="•"/>
            </a:pPr>
            <a:r>
              <a:rPr lang="en-US" sz="2074" spc="20">
                <a:solidFill>
                  <a:srgbClr val="000000"/>
                </a:solidFill>
                <a:latin typeface="Inter"/>
                <a:ea typeface="Inter"/>
                <a:cs typeface="Inter"/>
                <a:sym typeface="Inter"/>
              </a:rPr>
              <a:t>Support data-driven decision-making through actionable insights.</a:t>
            </a:r>
          </a:p>
          <a:p>
            <a:pPr algn="l">
              <a:lnSpc>
                <a:spcPts val="2987"/>
              </a:lnSpc>
            </a:pPr>
          </a:p>
        </p:txBody>
      </p:sp>
      <p:sp>
        <p:nvSpPr>
          <p:cNvPr name="TextBox 6" id="6"/>
          <p:cNvSpPr txBox="true"/>
          <p:nvPr/>
        </p:nvSpPr>
        <p:spPr>
          <a:xfrm rot="0">
            <a:off x="1247746" y="7202720"/>
            <a:ext cx="2539107" cy="432435"/>
          </a:xfrm>
          <a:prstGeom prst="rect">
            <a:avLst/>
          </a:prstGeom>
        </p:spPr>
        <p:txBody>
          <a:bodyPr anchor="t" rtlCol="false" tIns="0" lIns="0" bIns="0" rIns="0">
            <a:spAutoFit/>
          </a:bodyPr>
          <a:lstStyle/>
          <a:p>
            <a:pPr algn="l">
              <a:lnSpc>
                <a:spcPts val="3510"/>
              </a:lnSpc>
            </a:pPr>
            <a:r>
              <a:rPr lang="en-US" sz="2700" b="true">
                <a:solidFill>
                  <a:srgbClr val="0F172A"/>
                </a:solidFill>
                <a:latin typeface="Inter Bold"/>
                <a:ea typeface="Inter Bold"/>
                <a:cs typeface="Inter Bold"/>
                <a:sym typeface="Inter Bold"/>
              </a:rPr>
              <a:t>Busin</a:t>
            </a:r>
            <a:r>
              <a:rPr lang="en-US" sz="2700" b="true">
                <a:solidFill>
                  <a:srgbClr val="0F172A"/>
                </a:solidFill>
                <a:latin typeface="Inter Bold"/>
                <a:ea typeface="Inter Bold"/>
                <a:cs typeface="Inter Bold"/>
                <a:sym typeface="Inter Bold"/>
              </a:rPr>
              <a:t>ess Value</a:t>
            </a:r>
          </a:p>
        </p:txBody>
      </p:sp>
      <p:sp>
        <p:nvSpPr>
          <p:cNvPr name="TextBox 7" id="7"/>
          <p:cNvSpPr txBox="true"/>
          <p:nvPr/>
        </p:nvSpPr>
        <p:spPr>
          <a:xfrm rot="0">
            <a:off x="1028700" y="1686787"/>
            <a:ext cx="9312586" cy="4793406"/>
          </a:xfrm>
          <a:prstGeom prst="rect">
            <a:avLst/>
          </a:prstGeom>
        </p:spPr>
        <p:txBody>
          <a:bodyPr anchor="t" rtlCol="false" tIns="0" lIns="0" bIns="0" rIns="0">
            <a:spAutoFit/>
          </a:bodyPr>
          <a:lstStyle/>
          <a:p>
            <a:pPr algn="l">
              <a:lnSpc>
                <a:spcPts val="3506"/>
              </a:lnSpc>
            </a:pPr>
            <a:r>
              <a:rPr lang="en-US" sz="2124">
                <a:solidFill>
                  <a:srgbClr val="000000"/>
                </a:solidFill>
                <a:latin typeface="Inter"/>
                <a:ea typeface="Inter"/>
                <a:cs typeface="Inter"/>
                <a:sym typeface="Inter"/>
              </a:rPr>
              <a:t>This project analyz</a:t>
            </a:r>
            <a:r>
              <a:rPr lang="en-US" sz="2124">
                <a:solidFill>
                  <a:srgbClr val="000000"/>
                </a:solidFill>
                <a:latin typeface="Inter"/>
                <a:ea typeface="Inter"/>
                <a:cs typeface="Inter"/>
                <a:sym typeface="Inter"/>
              </a:rPr>
              <a:t>es 48,900 Airbnb listings across New York City to understand how pricing, location, room type, host behavior, and customer reviews influence occupancy and estimated revenue.</a:t>
            </a:r>
          </a:p>
          <a:p>
            <a:pPr algn="l">
              <a:lnSpc>
                <a:spcPts val="3506"/>
              </a:lnSpc>
            </a:pPr>
          </a:p>
          <a:p>
            <a:pPr algn="l">
              <a:lnSpc>
                <a:spcPts val="3506"/>
              </a:lnSpc>
            </a:pPr>
            <a:r>
              <a:rPr lang="en-US" sz="2124">
                <a:solidFill>
                  <a:srgbClr val="000000"/>
                </a:solidFill>
                <a:latin typeface="Inter"/>
                <a:ea typeface="Inter"/>
                <a:cs typeface="Inter"/>
                <a:sym typeface="Inter"/>
              </a:rPr>
              <a:t>Using Excel for data cleaning, MySQL for business analysis, and Power</a:t>
            </a:r>
            <a:r>
              <a:rPr lang="en-US" sz="2124">
                <a:solidFill>
                  <a:srgbClr val="000000"/>
                </a:solidFill>
                <a:latin typeface="Inter"/>
                <a:ea typeface="Inter"/>
                <a:cs typeface="Inter"/>
                <a:sym typeface="Inter"/>
              </a:rPr>
              <a:t> BI for interactive visualization, the project identifies market trends, evaluates host performance, and uncovers high-potential investment opportunities. The insights help hosts optimize pricing strategies, improve booking performance, and make informed decisions in a highly competitive short-term rental market.</a:t>
            </a:r>
          </a:p>
          <a:p>
            <a:pPr algn="l">
              <a:lnSpc>
                <a:spcPts val="3507"/>
              </a:lnSpc>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71588" y="825583"/>
            <a:ext cx="4777879" cy="609600"/>
          </a:xfrm>
          <a:prstGeom prst="rect">
            <a:avLst/>
          </a:prstGeom>
        </p:spPr>
        <p:txBody>
          <a:bodyPr anchor="t" rtlCol="false" tIns="0" lIns="0" bIns="0" rIns="0">
            <a:spAutoFit/>
          </a:bodyPr>
          <a:lstStyle/>
          <a:p>
            <a:pPr algn="l">
              <a:lnSpc>
                <a:spcPts val="4860"/>
              </a:lnSpc>
            </a:pPr>
            <a:r>
              <a:rPr lang="en-US" sz="4050" b="true">
                <a:solidFill>
                  <a:srgbClr val="0F172A"/>
                </a:solidFill>
                <a:latin typeface="Inter Bold"/>
                <a:ea typeface="Inter Bold"/>
                <a:cs typeface="Inter Bold"/>
                <a:sym typeface="Inter Bold"/>
              </a:rPr>
              <a:t>Problem Statement</a:t>
            </a:r>
          </a:p>
        </p:txBody>
      </p:sp>
      <p:sp>
        <p:nvSpPr>
          <p:cNvPr name="TextBox 3" id="3"/>
          <p:cNvSpPr txBox="true"/>
          <p:nvPr/>
        </p:nvSpPr>
        <p:spPr>
          <a:xfrm rot="0">
            <a:off x="1262487" y="1923415"/>
            <a:ext cx="15763025" cy="4020820"/>
          </a:xfrm>
          <a:prstGeom prst="rect">
            <a:avLst/>
          </a:prstGeom>
        </p:spPr>
        <p:txBody>
          <a:bodyPr anchor="t" rtlCol="false" tIns="0" lIns="0" bIns="0" rIns="0">
            <a:spAutoFit/>
          </a:bodyPr>
          <a:lstStyle/>
          <a:p>
            <a:pPr algn="l">
              <a:lnSpc>
                <a:spcPts val="3559"/>
              </a:lnSpc>
            </a:pPr>
            <a:r>
              <a:rPr lang="en-US" sz="2224">
                <a:solidFill>
                  <a:srgbClr val="000000"/>
                </a:solidFill>
                <a:latin typeface="Inter"/>
                <a:ea typeface="Inter"/>
                <a:cs typeface="Inter"/>
                <a:sym typeface="Inter"/>
              </a:rPr>
              <a:t>N</a:t>
            </a:r>
            <a:r>
              <a:rPr lang="en-US" sz="2224">
                <a:solidFill>
                  <a:srgbClr val="000000"/>
                </a:solidFill>
                <a:latin typeface="Inter"/>
                <a:ea typeface="Inter"/>
                <a:cs typeface="Inter"/>
                <a:sym typeface="Inter"/>
              </a:rPr>
              <a:t>ew York City has approximately 49,000 Airbnb listings, making it one of the world's most competitive short-term rental markets.</a:t>
            </a:r>
          </a:p>
          <a:p>
            <a:pPr algn="l">
              <a:lnSpc>
                <a:spcPts val="3719"/>
              </a:lnSpc>
            </a:pPr>
          </a:p>
          <a:p>
            <a:pPr algn="l">
              <a:lnSpc>
                <a:spcPts val="3559"/>
              </a:lnSpc>
            </a:pPr>
            <a:r>
              <a:rPr lang="en-US" sz="2224">
                <a:solidFill>
                  <a:srgbClr val="000000"/>
                </a:solidFill>
                <a:latin typeface="Inter"/>
                <a:ea typeface="Inter"/>
                <a:cs typeface="Inter"/>
                <a:sym typeface="Inter"/>
              </a:rPr>
              <a:t>With thousands of hosts competing for travelers, it has become increasingly difficult to answer questions such as:</a:t>
            </a:r>
          </a:p>
          <a:p>
            <a:pPr algn="l" marL="480376" indent="-240188" lvl="1">
              <a:lnSpc>
                <a:spcPts val="3559"/>
              </a:lnSpc>
              <a:buFont typeface="Arial"/>
              <a:buChar char="•"/>
            </a:pPr>
            <a:r>
              <a:rPr lang="en-US" sz="2224">
                <a:solidFill>
                  <a:srgbClr val="000000"/>
                </a:solidFill>
                <a:latin typeface="Inter"/>
                <a:ea typeface="Inter"/>
                <a:cs typeface="Inter"/>
                <a:sym typeface="Inter"/>
              </a:rPr>
              <a:t>What is the ideal nightly price?</a:t>
            </a:r>
          </a:p>
          <a:p>
            <a:pPr algn="l" marL="480376" indent="-240188" lvl="1">
              <a:lnSpc>
                <a:spcPts val="3559"/>
              </a:lnSpc>
              <a:buFont typeface="Arial"/>
              <a:buChar char="•"/>
            </a:pPr>
            <a:r>
              <a:rPr lang="en-US" sz="2224">
                <a:solidFill>
                  <a:srgbClr val="000000"/>
                </a:solidFill>
                <a:latin typeface="Inter"/>
                <a:ea typeface="Inter"/>
                <a:cs typeface="Inter"/>
                <a:sym typeface="Inter"/>
              </a:rPr>
              <a:t>Which neighborhoods are most profitable?</a:t>
            </a:r>
          </a:p>
          <a:p>
            <a:pPr algn="l" marL="480376" indent="-240188" lvl="1">
              <a:lnSpc>
                <a:spcPts val="3559"/>
              </a:lnSpc>
              <a:buFont typeface="Arial"/>
              <a:buChar char="•"/>
            </a:pPr>
            <a:r>
              <a:rPr lang="en-US" sz="2224">
                <a:solidFill>
                  <a:srgbClr val="000000"/>
                </a:solidFill>
                <a:latin typeface="Inter"/>
                <a:ea typeface="Inter"/>
                <a:cs typeface="Inter"/>
                <a:sym typeface="Inter"/>
              </a:rPr>
              <a:t>Which room type performs best?</a:t>
            </a:r>
          </a:p>
          <a:p>
            <a:pPr algn="l" marL="480376" indent="-240188" lvl="1">
              <a:lnSpc>
                <a:spcPts val="3559"/>
              </a:lnSpc>
              <a:buFont typeface="Arial"/>
              <a:buChar char="•"/>
            </a:pPr>
            <a:r>
              <a:rPr lang="en-US" sz="2224">
                <a:solidFill>
                  <a:srgbClr val="000000"/>
                </a:solidFill>
                <a:latin typeface="Inter"/>
                <a:ea typeface="Inter"/>
                <a:cs typeface="Inter"/>
                <a:sym typeface="Inter"/>
              </a:rPr>
              <a:t>How can hosts increase occupancy?</a:t>
            </a:r>
          </a:p>
          <a:p>
            <a:pPr algn="l" marL="480376" indent="-240188" lvl="1">
              <a:lnSpc>
                <a:spcPts val="3559"/>
              </a:lnSpc>
              <a:buFont typeface="Arial"/>
              <a:buChar char="•"/>
            </a:pPr>
            <a:r>
              <a:rPr lang="en-US" sz="2224">
                <a:solidFill>
                  <a:srgbClr val="000000"/>
                </a:solidFill>
                <a:latin typeface="Inter"/>
                <a:ea typeface="Inter"/>
                <a:cs typeface="Inter"/>
                <a:sym typeface="Inter"/>
              </a:rPr>
              <a:t>Where should new hosts invest?</a:t>
            </a:r>
          </a:p>
        </p:txBody>
      </p:sp>
      <p:grpSp>
        <p:nvGrpSpPr>
          <p:cNvPr name="Group 4" id="4"/>
          <p:cNvGrpSpPr/>
          <p:nvPr/>
        </p:nvGrpSpPr>
        <p:grpSpPr>
          <a:xfrm rot="0">
            <a:off x="1271588" y="6944443"/>
            <a:ext cx="15030835" cy="1811169"/>
            <a:chOff x="0" y="0"/>
            <a:chExt cx="20041113" cy="2414892"/>
          </a:xfrm>
        </p:grpSpPr>
        <p:sp>
          <p:nvSpPr>
            <p:cNvPr name="TextBox 5" id="5"/>
            <p:cNvSpPr txBox="true"/>
            <p:nvPr/>
          </p:nvSpPr>
          <p:spPr>
            <a:xfrm rot="0">
              <a:off x="0" y="-76200"/>
              <a:ext cx="16314518" cy="581660"/>
            </a:xfrm>
            <a:prstGeom prst="rect">
              <a:avLst/>
            </a:prstGeom>
          </p:spPr>
          <p:txBody>
            <a:bodyPr anchor="t" rtlCol="false" tIns="0" lIns="0" bIns="0" rIns="0">
              <a:spAutoFit/>
            </a:bodyPr>
            <a:lstStyle/>
            <a:p>
              <a:pPr algn="l">
                <a:lnSpc>
                  <a:spcPts val="3824"/>
                </a:lnSpc>
              </a:pPr>
              <a:r>
                <a:rPr lang="en-US" sz="2549" b="true">
                  <a:solidFill>
                    <a:srgbClr val="0F172A"/>
                  </a:solidFill>
                  <a:latin typeface="Inter Bold"/>
                  <a:ea typeface="Inter Bold"/>
                  <a:cs typeface="Inter Bold"/>
                  <a:sym typeface="Inter Bold"/>
                </a:rPr>
                <a:t>B</a:t>
              </a:r>
              <a:r>
                <a:rPr lang="en-US" sz="2549" b="true">
                  <a:solidFill>
                    <a:srgbClr val="0F172A"/>
                  </a:solidFill>
                  <a:latin typeface="Inter Bold"/>
                  <a:ea typeface="Inter Bold"/>
                  <a:cs typeface="Inter Bold"/>
                  <a:sym typeface="Inter Bold"/>
                </a:rPr>
                <a:t>usiness Objective</a:t>
              </a:r>
            </a:p>
          </p:txBody>
        </p:sp>
        <p:sp>
          <p:nvSpPr>
            <p:cNvPr name="TextBox 6" id="6"/>
            <p:cNvSpPr txBox="true"/>
            <p:nvPr/>
          </p:nvSpPr>
          <p:spPr>
            <a:xfrm rot="0">
              <a:off x="0" y="804531"/>
              <a:ext cx="20041113" cy="1610361"/>
            </a:xfrm>
            <a:prstGeom prst="rect">
              <a:avLst/>
            </a:prstGeom>
          </p:spPr>
          <p:txBody>
            <a:bodyPr anchor="t" rtlCol="false" tIns="0" lIns="0" bIns="0" rIns="0">
              <a:spAutoFit/>
            </a:bodyPr>
            <a:lstStyle/>
            <a:p>
              <a:pPr algn="l">
                <a:lnSpc>
                  <a:spcPts val="3359"/>
                </a:lnSpc>
              </a:pPr>
              <a:r>
                <a:rPr lang="en-US" sz="2099">
                  <a:solidFill>
                    <a:srgbClr val="000000"/>
                  </a:solidFill>
                  <a:latin typeface="Inter"/>
                  <a:ea typeface="Inter"/>
                  <a:cs typeface="Inter"/>
                  <a:sym typeface="Inter"/>
                </a:rPr>
                <a:t>Th</a:t>
              </a:r>
              <a:r>
                <a:rPr lang="en-US" sz="2099">
                  <a:solidFill>
                    <a:srgbClr val="000000"/>
                  </a:solidFill>
                  <a:latin typeface="Inter"/>
                  <a:ea typeface="Inter"/>
                  <a:cs typeface="Inter"/>
                  <a:sym typeface="Inter"/>
                </a:rPr>
                <a:t>e objective of this project is to analyze Airbnb listing, pricing, review, availability, and host data to identify the key factors influencing listing success and provide actionable recommendations that help hosts maximize revenue while improving marketplace efficiency.</a:t>
              </a:r>
            </a:p>
          </p:txBody>
        </p:sp>
      </p:grpSp>
      <p:sp>
        <p:nvSpPr>
          <p:cNvPr name="AutoShape 7" id="7"/>
          <p:cNvSpPr/>
          <p:nvPr/>
        </p:nvSpPr>
        <p:spPr>
          <a:xfrm flipH="true" flipV="true">
            <a:off x="1047750" y="932340"/>
            <a:ext cx="0" cy="453615"/>
          </a:xfrm>
          <a:prstGeom prst="line">
            <a:avLst/>
          </a:prstGeom>
          <a:ln cap="flat" w="66675">
            <a:solidFill>
              <a:srgbClr val="2563EB"/>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00150" y="864834"/>
            <a:ext cx="4531048" cy="609600"/>
          </a:xfrm>
          <a:prstGeom prst="rect">
            <a:avLst/>
          </a:prstGeom>
        </p:spPr>
        <p:txBody>
          <a:bodyPr anchor="t" rtlCol="false" tIns="0" lIns="0" bIns="0" rIns="0">
            <a:spAutoFit/>
          </a:bodyPr>
          <a:lstStyle/>
          <a:p>
            <a:pPr algn="l">
              <a:lnSpc>
                <a:spcPts val="4860"/>
              </a:lnSpc>
            </a:pPr>
            <a:r>
              <a:rPr lang="en-US" sz="4050" b="true">
                <a:solidFill>
                  <a:srgbClr val="0F172A"/>
                </a:solidFill>
                <a:latin typeface="Inter Bold"/>
                <a:ea typeface="Inter Bold"/>
                <a:cs typeface="Inter Bold"/>
                <a:sym typeface="Inter Bold"/>
              </a:rPr>
              <a:t>D</a:t>
            </a:r>
            <a:r>
              <a:rPr lang="en-US" sz="4050" b="true">
                <a:solidFill>
                  <a:srgbClr val="0F172A"/>
                </a:solidFill>
                <a:latin typeface="Inter Bold"/>
                <a:ea typeface="Inter Bold"/>
                <a:cs typeface="Inter Bold"/>
                <a:sym typeface="Inter Bold"/>
              </a:rPr>
              <a:t>ataset Overview</a:t>
            </a:r>
          </a:p>
        </p:txBody>
      </p:sp>
      <p:sp>
        <p:nvSpPr>
          <p:cNvPr name="TextBox 3" id="3"/>
          <p:cNvSpPr txBox="true"/>
          <p:nvPr/>
        </p:nvSpPr>
        <p:spPr>
          <a:xfrm rot="0">
            <a:off x="1200150" y="1912466"/>
            <a:ext cx="12128319" cy="409575"/>
          </a:xfrm>
          <a:prstGeom prst="rect">
            <a:avLst/>
          </a:prstGeom>
        </p:spPr>
        <p:txBody>
          <a:bodyPr anchor="t" rtlCol="false" tIns="0" lIns="0" bIns="0" rIns="0">
            <a:spAutoFit/>
          </a:bodyPr>
          <a:lstStyle/>
          <a:p>
            <a:pPr algn="l">
              <a:lnSpc>
                <a:spcPts val="3375"/>
              </a:lnSpc>
            </a:pPr>
            <a:r>
              <a:rPr lang="en-US" sz="2250" b="true">
                <a:solidFill>
                  <a:srgbClr val="2563EB"/>
                </a:solidFill>
                <a:latin typeface="Inter Bold"/>
                <a:ea typeface="Inter Bold"/>
                <a:cs typeface="Inter Bold"/>
                <a:sym typeface="Inter Bold"/>
              </a:rPr>
              <a:t>Data</a:t>
            </a:r>
            <a:r>
              <a:rPr lang="en-US" sz="2250" b="true">
                <a:solidFill>
                  <a:srgbClr val="2563EB"/>
                </a:solidFill>
                <a:latin typeface="Inter Bold"/>
                <a:ea typeface="Inter Bold"/>
                <a:cs typeface="Inter Bold"/>
                <a:sym typeface="Inter Bold"/>
              </a:rPr>
              <a:t>set Information</a:t>
            </a:r>
          </a:p>
        </p:txBody>
      </p:sp>
      <p:sp>
        <p:nvSpPr>
          <p:cNvPr name="AutoShape 4" id="4"/>
          <p:cNvSpPr/>
          <p:nvPr/>
        </p:nvSpPr>
        <p:spPr>
          <a:xfrm flipH="true" flipV="true">
            <a:off x="1047750" y="932340"/>
            <a:ext cx="0" cy="453615"/>
          </a:xfrm>
          <a:prstGeom prst="line">
            <a:avLst/>
          </a:prstGeom>
          <a:ln cap="flat" w="66675">
            <a:solidFill>
              <a:srgbClr val="2563EB"/>
            </a:solidFill>
            <a:prstDash val="solid"/>
            <a:headEnd type="none" len="sm" w="sm"/>
            <a:tailEnd type="none" len="sm" w="sm"/>
          </a:ln>
        </p:spPr>
      </p:sp>
      <p:grpSp>
        <p:nvGrpSpPr>
          <p:cNvPr name="Group 5" id="5"/>
          <p:cNvGrpSpPr/>
          <p:nvPr/>
        </p:nvGrpSpPr>
        <p:grpSpPr>
          <a:xfrm rot="0">
            <a:off x="1047750" y="2592772"/>
            <a:ext cx="16230600" cy="5305926"/>
            <a:chOff x="0" y="0"/>
            <a:chExt cx="21640800" cy="7074569"/>
          </a:xfrm>
        </p:grpSpPr>
        <p:sp>
          <p:nvSpPr>
            <p:cNvPr name="TextBox 6" id="6"/>
            <p:cNvSpPr txBox="true"/>
            <p:nvPr/>
          </p:nvSpPr>
          <p:spPr>
            <a:xfrm rot="0">
              <a:off x="0" y="272429"/>
              <a:ext cx="4132681" cy="632460"/>
            </a:xfrm>
            <a:prstGeom prst="rect">
              <a:avLst/>
            </a:prstGeom>
          </p:spPr>
          <p:txBody>
            <a:bodyPr anchor="t" rtlCol="false" tIns="0" lIns="0" bIns="0" rIns="0">
              <a:spAutoFit/>
            </a:bodyPr>
            <a:lstStyle/>
            <a:p>
              <a:pPr algn="l">
                <a:lnSpc>
                  <a:spcPts val="4199"/>
                </a:lnSpc>
              </a:pPr>
              <a:r>
                <a:rPr lang="en-US" sz="2799" b="true">
                  <a:solidFill>
                    <a:srgbClr val="0F172A"/>
                  </a:solidFill>
                  <a:latin typeface="Inter Bold"/>
                  <a:ea typeface="Inter Bold"/>
                  <a:cs typeface="Inter Bold"/>
                  <a:sym typeface="Inter Bold"/>
                </a:rPr>
                <a:t>S</a:t>
              </a:r>
              <a:r>
                <a:rPr lang="en-US" sz="2799" b="true">
                  <a:solidFill>
                    <a:srgbClr val="0F172A"/>
                  </a:solidFill>
                  <a:latin typeface="Inter Bold"/>
                  <a:ea typeface="Inter Bold"/>
                  <a:cs typeface="Inter Bold"/>
                  <a:sym typeface="Inter Bold"/>
                </a:rPr>
                <a:t>ource</a:t>
              </a:r>
            </a:p>
          </p:txBody>
        </p:sp>
        <p:sp>
          <p:nvSpPr>
            <p:cNvPr name="TextBox 7" id="7"/>
            <p:cNvSpPr txBox="true"/>
            <p:nvPr/>
          </p:nvSpPr>
          <p:spPr>
            <a:xfrm rot="0">
              <a:off x="0" y="1318909"/>
              <a:ext cx="5993759" cy="492761"/>
            </a:xfrm>
            <a:prstGeom prst="rect">
              <a:avLst/>
            </a:prstGeom>
          </p:spPr>
          <p:txBody>
            <a:bodyPr anchor="t" rtlCol="false" tIns="0" lIns="0" bIns="0" rIns="0">
              <a:spAutoFit/>
            </a:bodyPr>
            <a:lstStyle/>
            <a:p>
              <a:pPr algn="l">
                <a:lnSpc>
                  <a:spcPts val="3359"/>
                </a:lnSpc>
              </a:pPr>
              <a:r>
                <a:rPr lang="en-US" sz="2099">
                  <a:solidFill>
                    <a:srgbClr val="000000"/>
                  </a:solidFill>
                  <a:latin typeface="Inter"/>
                  <a:ea typeface="Inter"/>
                  <a:cs typeface="Inter"/>
                  <a:sym typeface="Inter"/>
                </a:rPr>
                <a:t>Airbnb</a:t>
              </a:r>
              <a:r>
                <a:rPr lang="en-US" sz="2099">
                  <a:solidFill>
                    <a:srgbClr val="000000"/>
                  </a:solidFill>
                  <a:latin typeface="Inter"/>
                  <a:ea typeface="Inter"/>
                  <a:cs typeface="Inter"/>
                  <a:sym typeface="Inter"/>
                </a:rPr>
                <a:t> NYC Open Data</a:t>
              </a:r>
            </a:p>
          </p:txBody>
        </p:sp>
        <p:sp>
          <p:nvSpPr>
            <p:cNvPr name="TextBox 8" id="8"/>
            <p:cNvSpPr txBox="true"/>
            <p:nvPr/>
          </p:nvSpPr>
          <p:spPr>
            <a:xfrm rot="0">
              <a:off x="7391400" y="272429"/>
              <a:ext cx="5005841" cy="632460"/>
            </a:xfrm>
            <a:prstGeom prst="rect">
              <a:avLst/>
            </a:prstGeom>
          </p:spPr>
          <p:txBody>
            <a:bodyPr anchor="t" rtlCol="false" tIns="0" lIns="0" bIns="0" rIns="0">
              <a:spAutoFit/>
            </a:bodyPr>
            <a:lstStyle/>
            <a:p>
              <a:pPr algn="l">
                <a:lnSpc>
                  <a:spcPts val="4199"/>
                </a:lnSpc>
              </a:pPr>
              <a:r>
                <a:rPr lang="en-US" sz="2799" b="true">
                  <a:solidFill>
                    <a:srgbClr val="0F172A"/>
                  </a:solidFill>
                  <a:latin typeface="Inter Bold"/>
                  <a:ea typeface="Inter Bold"/>
                  <a:cs typeface="Inter Bold"/>
                  <a:sym typeface="Inter Bold"/>
                </a:rPr>
                <a:t>Total</a:t>
              </a:r>
              <a:r>
                <a:rPr lang="en-US" sz="2799" b="true">
                  <a:solidFill>
                    <a:srgbClr val="0F172A"/>
                  </a:solidFill>
                  <a:latin typeface="Inter Bold"/>
                  <a:ea typeface="Inter Bold"/>
                  <a:cs typeface="Inter Bold"/>
                  <a:sym typeface="Inter Bold"/>
                </a:rPr>
                <a:t> Records</a:t>
              </a:r>
            </a:p>
          </p:txBody>
        </p:sp>
        <p:sp>
          <p:nvSpPr>
            <p:cNvPr name="TextBox 9" id="9"/>
            <p:cNvSpPr txBox="true"/>
            <p:nvPr/>
          </p:nvSpPr>
          <p:spPr>
            <a:xfrm rot="0">
              <a:off x="7391400" y="1318909"/>
              <a:ext cx="5055235" cy="492761"/>
            </a:xfrm>
            <a:prstGeom prst="rect">
              <a:avLst/>
            </a:prstGeom>
          </p:spPr>
          <p:txBody>
            <a:bodyPr anchor="t" rtlCol="false" tIns="0" lIns="0" bIns="0" rIns="0">
              <a:spAutoFit/>
            </a:bodyPr>
            <a:lstStyle/>
            <a:p>
              <a:pPr algn="l">
                <a:lnSpc>
                  <a:spcPts val="3359"/>
                </a:lnSpc>
              </a:pPr>
              <a:r>
                <a:rPr lang="en-US" sz="2099">
                  <a:solidFill>
                    <a:srgbClr val="000000"/>
                  </a:solidFill>
                  <a:latin typeface="Inter"/>
                  <a:ea typeface="Inter"/>
                  <a:cs typeface="Inter"/>
                  <a:sym typeface="Inter"/>
                </a:rPr>
                <a:t>Approx</a:t>
              </a:r>
              <a:r>
                <a:rPr lang="en-US" sz="2099">
                  <a:solidFill>
                    <a:srgbClr val="000000"/>
                  </a:solidFill>
                  <a:latin typeface="Inter"/>
                  <a:ea typeface="Inter"/>
                  <a:cs typeface="Inter"/>
                  <a:sym typeface="Inter"/>
                </a:rPr>
                <a:t>imately 48,900 Listings</a:t>
              </a:r>
            </a:p>
          </p:txBody>
        </p:sp>
        <p:sp>
          <p:nvSpPr>
            <p:cNvPr name="TextBox 10" id="10"/>
            <p:cNvSpPr txBox="true"/>
            <p:nvPr/>
          </p:nvSpPr>
          <p:spPr>
            <a:xfrm rot="0">
              <a:off x="15009840" y="272429"/>
              <a:ext cx="5191057" cy="632460"/>
            </a:xfrm>
            <a:prstGeom prst="rect">
              <a:avLst/>
            </a:prstGeom>
          </p:spPr>
          <p:txBody>
            <a:bodyPr anchor="t" rtlCol="false" tIns="0" lIns="0" bIns="0" rIns="0">
              <a:spAutoFit/>
            </a:bodyPr>
            <a:lstStyle/>
            <a:p>
              <a:pPr algn="l">
                <a:lnSpc>
                  <a:spcPts val="4199"/>
                </a:lnSpc>
              </a:pPr>
              <a:r>
                <a:rPr lang="en-US" sz="2799" b="true">
                  <a:solidFill>
                    <a:srgbClr val="0F172A"/>
                  </a:solidFill>
                  <a:latin typeface="Inter Bold"/>
                  <a:ea typeface="Inter Bold"/>
                  <a:cs typeface="Inter Bold"/>
                  <a:sym typeface="Inter Bold"/>
                </a:rPr>
                <a:t>Key Featur</a:t>
              </a:r>
              <a:r>
                <a:rPr lang="en-US" sz="2799" b="true">
                  <a:solidFill>
                    <a:srgbClr val="0F172A"/>
                  </a:solidFill>
                  <a:latin typeface="Inter Bold"/>
                  <a:ea typeface="Inter Bold"/>
                  <a:cs typeface="Inter Bold"/>
                  <a:sym typeface="Inter Bold"/>
                </a:rPr>
                <a:t>es</a:t>
              </a:r>
            </a:p>
          </p:txBody>
        </p:sp>
        <p:sp>
          <p:nvSpPr>
            <p:cNvPr name="TextBox 11" id="11"/>
            <p:cNvSpPr txBox="true"/>
            <p:nvPr/>
          </p:nvSpPr>
          <p:spPr>
            <a:xfrm rot="0">
              <a:off x="14937459" y="993808"/>
              <a:ext cx="5319094" cy="6080761"/>
            </a:xfrm>
            <a:prstGeom prst="rect">
              <a:avLst/>
            </a:prstGeom>
          </p:spPr>
          <p:txBody>
            <a:bodyPr anchor="t" rtlCol="false" tIns="0" lIns="0" bIns="0" rIns="0">
              <a:spAutoFit/>
            </a:bodyPr>
            <a:lstStyle/>
            <a:p>
              <a:pPr algn="l" marL="453388" indent="-226694" lvl="1">
                <a:lnSpc>
                  <a:spcPts val="3359"/>
                </a:lnSpc>
                <a:buFont typeface="Arial"/>
                <a:buChar char="•"/>
              </a:pPr>
              <a:r>
                <a:rPr lang="en-US" sz="2099">
                  <a:solidFill>
                    <a:srgbClr val="000000"/>
                  </a:solidFill>
                  <a:latin typeface="Inter"/>
                  <a:ea typeface="Inter"/>
                  <a:cs typeface="Inter"/>
                  <a:sym typeface="Inter"/>
                </a:rPr>
                <a:t>L</a:t>
              </a:r>
              <a:r>
                <a:rPr lang="en-US" sz="2099">
                  <a:solidFill>
                    <a:srgbClr val="000000"/>
                  </a:solidFill>
                  <a:latin typeface="Inter"/>
                  <a:ea typeface="Inter"/>
                  <a:cs typeface="Inter"/>
                  <a:sym typeface="Inter"/>
                </a:rPr>
                <a:t>isting Name</a:t>
              </a:r>
            </a:p>
            <a:p>
              <a:pPr algn="l" marL="453388" indent="-226694" lvl="1">
                <a:lnSpc>
                  <a:spcPts val="3359"/>
                </a:lnSpc>
                <a:buFont typeface="Arial"/>
                <a:buChar char="•"/>
              </a:pPr>
              <a:r>
                <a:rPr lang="en-US" sz="2099">
                  <a:solidFill>
                    <a:srgbClr val="000000"/>
                  </a:solidFill>
                  <a:latin typeface="Inter"/>
                  <a:ea typeface="Inter"/>
                  <a:cs typeface="Inter"/>
                  <a:sym typeface="Inter"/>
                </a:rPr>
                <a:t>Host Information</a:t>
              </a:r>
            </a:p>
            <a:p>
              <a:pPr algn="l" marL="453388" indent="-226694" lvl="1">
                <a:lnSpc>
                  <a:spcPts val="3359"/>
                </a:lnSpc>
                <a:buFont typeface="Arial"/>
                <a:buChar char="•"/>
              </a:pPr>
              <a:r>
                <a:rPr lang="en-US" sz="2099">
                  <a:solidFill>
                    <a:srgbClr val="000000"/>
                  </a:solidFill>
                  <a:latin typeface="Inter"/>
                  <a:ea typeface="Inter"/>
                  <a:cs typeface="Inter"/>
                  <a:sym typeface="Inter"/>
                </a:rPr>
                <a:t>Borough</a:t>
              </a:r>
            </a:p>
            <a:p>
              <a:pPr algn="l" marL="453388" indent="-226694" lvl="1">
                <a:lnSpc>
                  <a:spcPts val="3359"/>
                </a:lnSpc>
                <a:buFont typeface="Arial"/>
                <a:buChar char="•"/>
              </a:pPr>
              <a:r>
                <a:rPr lang="en-US" sz="2099">
                  <a:solidFill>
                    <a:srgbClr val="000000"/>
                  </a:solidFill>
                  <a:latin typeface="Inter"/>
                  <a:ea typeface="Inter"/>
                  <a:cs typeface="Inter"/>
                  <a:sym typeface="Inter"/>
                </a:rPr>
                <a:t>Neighborhood</a:t>
              </a:r>
            </a:p>
            <a:p>
              <a:pPr algn="l" marL="453388" indent="-226694" lvl="1">
                <a:lnSpc>
                  <a:spcPts val="3359"/>
                </a:lnSpc>
                <a:buFont typeface="Arial"/>
                <a:buChar char="•"/>
              </a:pPr>
              <a:r>
                <a:rPr lang="en-US" sz="2099">
                  <a:solidFill>
                    <a:srgbClr val="000000"/>
                  </a:solidFill>
                  <a:latin typeface="Inter"/>
                  <a:ea typeface="Inter"/>
                  <a:cs typeface="Inter"/>
                  <a:sym typeface="Inter"/>
                </a:rPr>
                <a:t>Room Type</a:t>
              </a:r>
            </a:p>
            <a:p>
              <a:pPr algn="l" marL="453388" indent="-226694" lvl="1">
                <a:lnSpc>
                  <a:spcPts val="3359"/>
                </a:lnSpc>
                <a:buFont typeface="Arial"/>
                <a:buChar char="•"/>
              </a:pPr>
              <a:r>
                <a:rPr lang="en-US" sz="2099">
                  <a:solidFill>
                    <a:srgbClr val="000000"/>
                  </a:solidFill>
                  <a:latin typeface="Inter"/>
                  <a:ea typeface="Inter"/>
                  <a:cs typeface="Inter"/>
                  <a:sym typeface="Inter"/>
                </a:rPr>
                <a:t>Price</a:t>
              </a:r>
            </a:p>
            <a:p>
              <a:pPr algn="l" marL="453388" indent="-226694" lvl="1">
                <a:lnSpc>
                  <a:spcPts val="3359"/>
                </a:lnSpc>
                <a:buFont typeface="Arial"/>
                <a:buChar char="•"/>
              </a:pPr>
              <a:r>
                <a:rPr lang="en-US" sz="2099">
                  <a:solidFill>
                    <a:srgbClr val="000000"/>
                  </a:solidFill>
                  <a:latin typeface="Inter"/>
                  <a:ea typeface="Inter"/>
                  <a:cs typeface="Inter"/>
                  <a:sym typeface="Inter"/>
                </a:rPr>
                <a:t>Availability</a:t>
              </a:r>
            </a:p>
            <a:p>
              <a:pPr algn="l" marL="453388" indent="-226694" lvl="1">
                <a:lnSpc>
                  <a:spcPts val="3359"/>
                </a:lnSpc>
                <a:buFont typeface="Arial"/>
                <a:buChar char="•"/>
              </a:pPr>
              <a:r>
                <a:rPr lang="en-US" sz="2099">
                  <a:solidFill>
                    <a:srgbClr val="000000"/>
                  </a:solidFill>
                  <a:latin typeface="Inter"/>
                  <a:ea typeface="Inter"/>
                  <a:cs typeface="Inter"/>
                  <a:sym typeface="Inter"/>
                </a:rPr>
                <a:t>Minimum Stay</a:t>
              </a:r>
            </a:p>
            <a:p>
              <a:pPr algn="l" marL="453388" indent="-226694" lvl="1">
                <a:lnSpc>
                  <a:spcPts val="3359"/>
                </a:lnSpc>
                <a:buFont typeface="Arial"/>
                <a:buChar char="•"/>
              </a:pPr>
              <a:r>
                <a:rPr lang="en-US" sz="2099">
                  <a:solidFill>
                    <a:srgbClr val="000000"/>
                  </a:solidFill>
                  <a:latin typeface="Inter"/>
                  <a:ea typeface="Inter"/>
                  <a:cs typeface="Inter"/>
                  <a:sym typeface="Inter"/>
                </a:rPr>
                <a:t>Reviews</a:t>
              </a:r>
            </a:p>
            <a:p>
              <a:pPr algn="l" marL="453388" indent="-226694" lvl="1">
                <a:lnSpc>
                  <a:spcPts val="3359"/>
                </a:lnSpc>
                <a:buFont typeface="Arial"/>
                <a:buChar char="•"/>
              </a:pPr>
              <a:r>
                <a:rPr lang="en-US" sz="2099">
                  <a:solidFill>
                    <a:srgbClr val="000000"/>
                  </a:solidFill>
                  <a:latin typeface="Inter"/>
                  <a:ea typeface="Inter"/>
                  <a:cs typeface="Inter"/>
                  <a:sym typeface="Inter"/>
                </a:rPr>
                <a:t>Last Review Date</a:t>
              </a:r>
            </a:p>
            <a:p>
              <a:pPr algn="l">
                <a:lnSpc>
                  <a:spcPts val="3359"/>
                </a:lnSpc>
              </a:pPr>
            </a:p>
          </p:txBody>
        </p:sp>
        <p:sp>
          <p:nvSpPr>
            <p:cNvPr name="AutoShape 12" id="12"/>
            <p:cNvSpPr/>
            <p:nvPr/>
          </p:nvSpPr>
          <p:spPr>
            <a:xfrm>
              <a:off x="0" y="12700"/>
              <a:ext cx="6630960" cy="0"/>
            </a:xfrm>
            <a:prstGeom prst="line">
              <a:avLst/>
            </a:prstGeom>
            <a:ln cap="flat" w="25400">
              <a:solidFill>
                <a:srgbClr val="2563EB"/>
              </a:solidFill>
              <a:prstDash val="solid"/>
              <a:headEnd type="none" len="sm" w="sm"/>
              <a:tailEnd type="none" len="sm" w="sm"/>
            </a:ln>
          </p:spPr>
        </p:sp>
        <p:sp>
          <p:nvSpPr>
            <p:cNvPr name="AutoShape 13" id="13"/>
            <p:cNvSpPr/>
            <p:nvPr/>
          </p:nvSpPr>
          <p:spPr>
            <a:xfrm>
              <a:off x="7391400" y="12700"/>
              <a:ext cx="6630960" cy="0"/>
            </a:xfrm>
            <a:prstGeom prst="line">
              <a:avLst/>
            </a:prstGeom>
            <a:ln cap="flat" w="25400">
              <a:solidFill>
                <a:srgbClr val="2563EB"/>
              </a:solidFill>
              <a:prstDash val="solid"/>
              <a:headEnd type="none" len="sm" w="sm"/>
              <a:tailEnd type="none" len="sm" w="sm"/>
            </a:ln>
          </p:spPr>
        </p:sp>
        <p:sp>
          <p:nvSpPr>
            <p:cNvPr name="AutoShape 14" id="14"/>
            <p:cNvSpPr/>
            <p:nvPr/>
          </p:nvSpPr>
          <p:spPr>
            <a:xfrm>
              <a:off x="15009840" y="12700"/>
              <a:ext cx="6630960" cy="0"/>
            </a:xfrm>
            <a:prstGeom prst="line">
              <a:avLst/>
            </a:prstGeom>
            <a:ln cap="flat" w="25400">
              <a:solidFill>
                <a:srgbClr val="2563EB"/>
              </a:solidFill>
              <a:prstDash val="solid"/>
              <a:headEnd type="none" len="sm" w="sm"/>
              <a:tailEnd type="none" len="sm" w="sm"/>
            </a:ln>
          </p:spPr>
        </p:sp>
      </p:grpSp>
      <p:grpSp>
        <p:nvGrpSpPr>
          <p:cNvPr name="Group 15" id="15"/>
          <p:cNvGrpSpPr/>
          <p:nvPr/>
        </p:nvGrpSpPr>
        <p:grpSpPr>
          <a:xfrm rot="0">
            <a:off x="1200150" y="8165398"/>
            <a:ext cx="14915974" cy="1324147"/>
            <a:chOff x="0" y="0"/>
            <a:chExt cx="19887965" cy="1765530"/>
          </a:xfrm>
        </p:grpSpPr>
        <p:sp>
          <p:nvSpPr>
            <p:cNvPr name="TextBox 16" id="16"/>
            <p:cNvSpPr txBox="true"/>
            <p:nvPr/>
          </p:nvSpPr>
          <p:spPr>
            <a:xfrm rot="0">
              <a:off x="0" y="-66675"/>
              <a:ext cx="11119194" cy="529975"/>
            </a:xfrm>
            <a:prstGeom prst="rect">
              <a:avLst/>
            </a:prstGeom>
          </p:spPr>
          <p:txBody>
            <a:bodyPr anchor="t" rtlCol="false" tIns="0" lIns="0" bIns="0" rIns="0">
              <a:spAutoFit/>
            </a:bodyPr>
            <a:lstStyle/>
            <a:p>
              <a:pPr algn="l">
                <a:lnSpc>
                  <a:spcPts val="3468"/>
                </a:lnSpc>
              </a:pPr>
              <a:r>
                <a:rPr lang="en-US" sz="2312" b="true">
                  <a:solidFill>
                    <a:srgbClr val="000000"/>
                  </a:solidFill>
                  <a:latin typeface="Inter Bold"/>
                  <a:ea typeface="Inter Bold"/>
                  <a:cs typeface="Inter Bold"/>
                  <a:sym typeface="Inter Bold"/>
                </a:rPr>
                <a:t>Why</a:t>
              </a:r>
              <a:r>
                <a:rPr lang="en-US" sz="2312" b="true">
                  <a:solidFill>
                    <a:srgbClr val="000000"/>
                  </a:solidFill>
                  <a:latin typeface="Inter Bold"/>
                  <a:ea typeface="Inter Bold"/>
                  <a:cs typeface="Inter Bold"/>
                  <a:sym typeface="Inter Bold"/>
                </a:rPr>
                <a:t> These Tools?</a:t>
              </a:r>
            </a:p>
          </p:txBody>
        </p:sp>
        <p:sp>
          <p:nvSpPr>
            <p:cNvPr name="TextBox 17" id="17"/>
            <p:cNvSpPr txBox="true"/>
            <p:nvPr/>
          </p:nvSpPr>
          <p:spPr>
            <a:xfrm rot="0">
              <a:off x="0" y="770364"/>
              <a:ext cx="19887965" cy="995165"/>
            </a:xfrm>
            <a:prstGeom prst="rect">
              <a:avLst/>
            </a:prstGeom>
          </p:spPr>
          <p:txBody>
            <a:bodyPr anchor="t" rtlCol="false" tIns="0" lIns="0" bIns="0" rIns="0">
              <a:spAutoFit/>
            </a:bodyPr>
            <a:lstStyle/>
            <a:p>
              <a:pPr algn="l">
                <a:lnSpc>
                  <a:spcPts val="3258"/>
                </a:lnSpc>
              </a:pPr>
              <a:r>
                <a:rPr lang="en-US" sz="1974" b="true">
                  <a:solidFill>
                    <a:srgbClr val="000000"/>
                  </a:solidFill>
                  <a:latin typeface="Inter Bold"/>
                  <a:ea typeface="Inter Bold"/>
                  <a:cs typeface="Inter Bold"/>
                  <a:sym typeface="Inter Bold"/>
                </a:rPr>
                <a:t>Ex</a:t>
              </a:r>
              <a:r>
                <a:rPr lang="en-US" sz="1974" b="true">
                  <a:solidFill>
                    <a:srgbClr val="000000"/>
                  </a:solidFill>
                  <a:latin typeface="Inter Bold"/>
                  <a:ea typeface="Inter Bold"/>
                  <a:cs typeface="Inter Bold"/>
                  <a:sym typeface="Inter Bold"/>
                </a:rPr>
                <a:t>cel  (Data Cleaning &amp; Preparation)           |      MySQL  (Business Analysis)       |          Power BI  (Dashboard &amp; Visualization)</a:t>
              </a:r>
            </a:p>
            <a:p>
              <a:pPr algn="l">
                <a:lnSpc>
                  <a:spcPts val="3086"/>
                </a:lnSpc>
              </a:pPr>
            </a:p>
          </p:txBody>
        </p:sp>
      </p:gr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71588" y="2520174"/>
            <a:ext cx="15030835" cy="6244359"/>
            <a:chOff x="0" y="0"/>
            <a:chExt cx="20041113" cy="8325812"/>
          </a:xfrm>
        </p:grpSpPr>
        <p:sp>
          <p:nvSpPr>
            <p:cNvPr name="TextBox 3" id="3"/>
            <p:cNvSpPr txBox="true"/>
            <p:nvPr/>
          </p:nvSpPr>
          <p:spPr>
            <a:xfrm rot="0">
              <a:off x="0" y="-123825"/>
              <a:ext cx="16314518" cy="716832"/>
            </a:xfrm>
            <a:prstGeom prst="rect">
              <a:avLst/>
            </a:prstGeom>
          </p:spPr>
          <p:txBody>
            <a:bodyPr anchor="t" rtlCol="false" tIns="0" lIns="0" bIns="0" rIns="0">
              <a:spAutoFit/>
            </a:bodyPr>
            <a:lstStyle/>
            <a:p>
              <a:pPr algn="l">
                <a:lnSpc>
                  <a:spcPts val="4837"/>
                </a:lnSpc>
              </a:pPr>
              <a:r>
                <a:rPr lang="en-US" b="true" sz="2949" spc="91">
                  <a:solidFill>
                    <a:srgbClr val="0F172A"/>
                  </a:solidFill>
                  <a:latin typeface="Inter Bold"/>
                  <a:ea typeface="Inter Bold"/>
                  <a:cs typeface="Inter Bold"/>
                  <a:sym typeface="Inter Bold"/>
                </a:rPr>
                <a:t>B</a:t>
              </a:r>
              <a:r>
                <a:rPr lang="en-US" b="true" sz="2949" spc="91">
                  <a:solidFill>
                    <a:srgbClr val="0F172A"/>
                  </a:solidFill>
                  <a:latin typeface="Inter Bold"/>
                  <a:ea typeface="Inter Bold"/>
                  <a:cs typeface="Inter Bold"/>
                  <a:sym typeface="Inter Bold"/>
                </a:rPr>
                <a:t>usiness Questions Answered</a:t>
              </a:r>
            </a:p>
          </p:txBody>
        </p:sp>
        <p:sp>
          <p:nvSpPr>
            <p:cNvPr name="TextBox 4" id="4"/>
            <p:cNvSpPr txBox="true"/>
            <p:nvPr/>
          </p:nvSpPr>
          <p:spPr>
            <a:xfrm rot="0">
              <a:off x="0" y="873028"/>
              <a:ext cx="20041113" cy="7452785"/>
            </a:xfrm>
            <a:prstGeom prst="rect">
              <a:avLst/>
            </a:prstGeom>
          </p:spPr>
          <p:txBody>
            <a:bodyPr anchor="t" rtlCol="false" tIns="0" lIns="0" bIns="0" rIns="0">
              <a:spAutoFit/>
            </a:bodyPr>
            <a:lstStyle/>
            <a:p>
              <a:pPr algn="l" marL="539746" indent="-269873" lvl="1">
                <a:lnSpc>
                  <a:spcPts val="4099"/>
                </a:lnSpc>
                <a:buAutoNum type="arabicPeriod" startAt="1"/>
              </a:pPr>
              <a:r>
                <a:rPr lang="en-US" sz="2499" spc="77">
                  <a:solidFill>
                    <a:srgbClr val="000000"/>
                  </a:solidFill>
                  <a:latin typeface="Inter"/>
                  <a:ea typeface="Inter"/>
                  <a:cs typeface="Inter"/>
                  <a:sym typeface="Inter"/>
                </a:rPr>
                <a:t>Which</a:t>
              </a:r>
              <a:r>
                <a:rPr lang="en-US" sz="2499" spc="77">
                  <a:solidFill>
                    <a:srgbClr val="000000"/>
                  </a:solidFill>
                  <a:latin typeface="Inter"/>
                  <a:ea typeface="Inter"/>
                  <a:cs typeface="Inter"/>
                  <a:sym typeface="Inter"/>
                </a:rPr>
                <a:t> borough has the highest number of listings?</a:t>
              </a:r>
            </a:p>
            <a:p>
              <a:pPr algn="l" marL="539746" indent="-269873" lvl="1">
                <a:lnSpc>
                  <a:spcPts val="4099"/>
                </a:lnSpc>
                <a:buAutoNum type="arabicPeriod" startAt="1"/>
              </a:pPr>
              <a:r>
                <a:rPr lang="en-US" sz="2499" spc="77">
                  <a:solidFill>
                    <a:srgbClr val="000000"/>
                  </a:solidFill>
                  <a:latin typeface="Inter"/>
                  <a:ea typeface="Inter"/>
                  <a:cs typeface="Inter"/>
                  <a:sym typeface="Inter"/>
                </a:rPr>
                <a:t>Which borough has the highest average price?</a:t>
              </a:r>
            </a:p>
            <a:p>
              <a:pPr algn="l" marL="539746" indent="-269873" lvl="1">
                <a:lnSpc>
                  <a:spcPts val="4099"/>
                </a:lnSpc>
                <a:buAutoNum type="arabicPeriod" startAt="1"/>
              </a:pPr>
              <a:r>
                <a:rPr lang="en-US" sz="2499" spc="77">
                  <a:solidFill>
                    <a:srgbClr val="000000"/>
                  </a:solidFill>
                  <a:latin typeface="Inter"/>
                  <a:ea typeface="Inter"/>
                  <a:cs typeface="Inter"/>
                  <a:sym typeface="Inter"/>
                </a:rPr>
                <a:t>Which room type generates the highest revenue?</a:t>
              </a:r>
            </a:p>
            <a:p>
              <a:pPr algn="l" marL="539746" indent="-269873" lvl="1">
                <a:lnSpc>
                  <a:spcPts val="4099"/>
                </a:lnSpc>
                <a:buAutoNum type="arabicPeriod" startAt="1"/>
              </a:pPr>
              <a:r>
                <a:rPr lang="en-US" sz="2499" spc="77">
                  <a:solidFill>
                    <a:srgbClr val="000000"/>
                  </a:solidFill>
                  <a:latin typeface="Inter"/>
                  <a:ea typeface="Inter"/>
                  <a:cs typeface="Inter"/>
                  <a:sym typeface="Inter"/>
                </a:rPr>
                <a:t>Which neighborhoods generate the highest annual revenue?</a:t>
              </a:r>
            </a:p>
            <a:p>
              <a:pPr algn="l" marL="539746" indent="-269873" lvl="1">
                <a:lnSpc>
                  <a:spcPts val="4099"/>
                </a:lnSpc>
                <a:buAutoNum type="arabicPeriod" startAt="1"/>
              </a:pPr>
              <a:r>
                <a:rPr lang="en-US" sz="2499" spc="77">
                  <a:solidFill>
                    <a:srgbClr val="000000"/>
                  </a:solidFill>
                  <a:latin typeface="Inter"/>
                  <a:ea typeface="Inter"/>
                  <a:cs typeface="Inter"/>
                  <a:sym typeface="Inter"/>
                </a:rPr>
                <a:t>Do reviews influence occupancy?</a:t>
              </a:r>
            </a:p>
            <a:p>
              <a:pPr algn="l" marL="539746" indent="-269873" lvl="1">
                <a:lnSpc>
                  <a:spcPts val="4099"/>
                </a:lnSpc>
                <a:buAutoNum type="arabicPeriod" startAt="1"/>
              </a:pPr>
              <a:r>
                <a:rPr lang="en-US" sz="2499" spc="77">
                  <a:solidFill>
                    <a:srgbClr val="000000"/>
                  </a:solidFill>
                  <a:latin typeface="Inter"/>
                  <a:ea typeface="Inter"/>
                  <a:cs typeface="Inter"/>
                  <a:sym typeface="Inter"/>
                </a:rPr>
                <a:t>Which pricing strategy maximizes bookings?</a:t>
              </a:r>
            </a:p>
            <a:p>
              <a:pPr algn="l" marL="539746" indent="-269873" lvl="1">
                <a:lnSpc>
                  <a:spcPts val="4099"/>
                </a:lnSpc>
                <a:buAutoNum type="arabicPeriod" startAt="1"/>
              </a:pPr>
              <a:r>
                <a:rPr lang="en-US" sz="2499" spc="77">
                  <a:solidFill>
                    <a:srgbClr val="000000"/>
                  </a:solidFill>
                  <a:latin typeface="Inter"/>
                  <a:ea typeface="Inter"/>
                  <a:cs typeface="Inter"/>
                  <a:sym typeface="Inter"/>
                </a:rPr>
                <a:t>Do professional hosts outperform individuals?</a:t>
              </a:r>
            </a:p>
            <a:p>
              <a:pPr algn="l" marL="539746" indent="-269873" lvl="1">
                <a:lnSpc>
                  <a:spcPts val="4099"/>
                </a:lnSpc>
                <a:buAutoNum type="arabicPeriod" startAt="1"/>
              </a:pPr>
              <a:r>
                <a:rPr lang="en-US" sz="2499" spc="77">
                  <a:solidFill>
                    <a:srgbClr val="000000"/>
                  </a:solidFill>
                  <a:latin typeface="Inter"/>
                  <a:ea typeface="Inter"/>
                  <a:cs typeface="Inter"/>
                  <a:sym typeface="Inter"/>
                </a:rPr>
                <a:t>Does minimum stay affect demand?</a:t>
              </a:r>
            </a:p>
            <a:p>
              <a:pPr algn="l" marL="539746" indent="-269873" lvl="1">
                <a:lnSpc>
                  <a:spcPts val="4099"/>
                </a:lnSpc>
                <a:buAutoNum type="arabicPeriod" startAt="1"/>
              </a:pPr>
              <a:r>
                <a:rPr lang="en-US" sz="2499" spc="77">
                  <a:solidFill>
                    <a:srgbClr val="000000"/>
                  </a:solidFill>
                  <a:latin typeface="Inter"/>
                  <a:ea typeface="Inter"/>
                  <a:cs typeface="Inter"/>
                  <a:sym typeface="Inter"/>
                </a:rPr>
                <a:t>Who are the top-performing hosts?</a:t>
              </a:r>
            </a:p>
            <a:p>
              <a:pPr algn="l" marL="539746" indent="-269873" lvl="1">
                <a:lnSpc>
                  <a:spcPts val="4099"/>
                </a:lnSpc>
                <a:buAutoNum type="arabicPeriod" startAt="1"/>
              </a:pPr>
              <a:r>
                <a:rPr lang="en-US" sz="2499" spc="77">
                  <a:solidFill>
                    <a:srgbClr val="000000"/>
                  </a:solidFill>
                  <a:latin typeface="Inter"/>
                  <a:ea typeface="Inter"/>
                  <a:cs typeface="Inter"/>
                  <a:sym typeface="Inter"/>
                </a:rPr>
                <a:t>How has Airbnb demand changed over time?</a:t>
              </a:r>
            </a:p>
            <a:p>
              <a:pPr algn="l">
                <a:lnSpc>
                  <a:spcPts val="4099"/>
                </a:lnSpc>
              </a:pPr>
            </a:p>
          </p:txBody>
        </p:sp>
      </p:grpSp>
      <p:sp>
        <p:nvSpPr>
          <p:cNvPr name="AutoShape 5" id="5"/>
          <p:cNvSpPr/>
          <p:nvPr/>
        </p:nvSpPr>
        <p:spPr>
          <a:xfrm flipH="true" flipV="true">
            <a:off x="1047750" y="932340"/>
            <a:ext cx="0" cy="453615"/>
          </a:xfrm>
          <a:prstGeom prst="line">
            <a:avLst/>
          </a:prstGeom>
          <a:ln cap="flat" w="66675">
            <a:solidFill>
              <a:srgbClr val="2563EB"/>
            </a:solidFill>
            <a:prstDash val="solid"/>
            <a:headEnd type="none" len="sm" w="sm"/>
            <a:tailEnd type="none" len="sm" w="sm"/>
          </a:ln>
        </p:spPr>
      </p:sp>
      <p:sp>
        <p:nvSpPr>
          <p:cNvPr name="TextBox 6" id="6"/>
          <p:cNvSpPr txBox="true"/>
          <p:nvPr/>
        </p:nvSpPr>
        <p:spPr>
          <a:xfrm rot="0">
            <a:off x="1271588" y="835108"/>
            <a:ext cx="5034161" cy="619125"/>
          </a:xfrm>
          <a:prstGeom prst="rect">
            <a:avLst/>
          </a:prstGeom>
        </p:spPr>
        <p:txBody>
          <a:bodyPr anchor="t" rtlCol="false" tIns="0" lIns="0" bIns="0" rIns="0">
            <a:spAutoFit/>
          </a:bodyPr>
          <a:lstStyle/>
          <a:p>
            <a:pPr algn="l">
              <a:lnSpc>
                <a:spcPts val="4979"/>
              </a:lnSpc>
            </a:pPr>
            <a:r>
              <a:rPr lang="en-US" sz="4149" b="true">
                <a:solidFill>
                  <a:srgbClr val="0F172A"/>
                </a:solidFill>
                <a:latin typeface="Inter Bold"/>
                <a:ea typeface="Inter Bold"/>
                <a:cs typeface="Inter Bold"/>
                <a:sym typeface="Inter Bold"/>
              </a:rPr>
              <a:t>Busin</a:t>
            </a:r>
            <a:r>
              <a:rPr lang="en-US" sz="4149" b="true">
                <a:solidFill>
                  <a:srgbClr val="0F172A"/>
                </a:solidFill>
                <a:latin typeface="Inter Bold"/>
                <a:ea typeface="Inter Bold"/>
                <a:cs typeface="Inter Bold"/>
                <a:sym typeface="Inter Bold"/>
              </a:rPr>
              <a:t>ess Questions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flipV="true">
            <a:off x="1047750" y="932340"/>
            <a:ext cx="0" cy="453615"/>
          </a:xfrm>
          <a:prstGeom prst="line">
            <a:avLst/>
          </a:prstGeom>
          <a:ln cap="flat" w="66675">
            <a:solidFill>
              <a:srgbClr val="2563EB"/>
            </a:solidFill>
            <a:prstDash val="solid"/>
            <a:headEnd type="none" len="sm" w="sm"/>
            <a:tailEnd type="none" len="sm" w="sm"/>
          </a:ln>
        </p:spPr>
      </p:sp>
      <p:grpSp>
        <p:nvGrpSpPr>
          <p:cNvPr name="Group 3" id="3"/>
          <p:cNvGrpSpPr/>
          <p:nvPr/>
        </p:nvGrpSpPr>
        <p:grpSpPr>
          <a:xfrm rot="0">
            <a:off x="1021227" y="3042920"/>
            <a:ext cx="15261861" cy="1757857"/>
            <a:chOff x="0" y="0"/>
            <a:chExt cx="20349148" cy="2343810"/>
          </a:xfrm>
        </p:grpSpPr>
        <p:sp>
          <p:nvSpPr>
            <p:cNvPr name="TextBox 4" id="4"/>
            <p:cNvSpPr txBox="true"/>
            <p:nvPr/>
          </p:nvSpPr>
          <p:spPr>
            <a:xfrm rot="0">
              <a:off x="831953" y="-76200"/>
              <a:ext cx="8725456" cy="552068"/>
            </a:xfrm>
            <a:prstGeom prst="rect">
              <a:avLst/>
            </a:prstGeom>
          </p:spPr>
          <p:txBody>
            <a:bodyPr anchor="t" rtlCol="false" tIns="0" lIns="0" bIns="0" rIns="0">
              <a:spAutoFit/>
            </a:bodyPr>
            <a:lstStyle/>
            <a:p>
              <a:pPr algn="l">
                <a:lnSpc>
                  <a:spcPts val="3604"/>
                </a:lnSpc>
              </a:pPr>
              <a:r>
                <a:rPr lang="en-US" sz="2403" b="true">
                  <a:solidFill>
                    <a:srgbClr val="2563EB"/>
                  </a:solidFill>
                  <a:latin typeface="Inter Bold"/>
                  <a:ea typeface="Inter Bold"/>
                  <a:cs typeface="Inter Bold"/>
                  <a:sym typeface="Inter Bold"/>
                </a:rPr>
                <a:t>K</a:t>
              </a:r>
              <a:r>
                <a:rPr lang="en-US" sz="2403" b="true">
                  <a:solidFill>
                    <a:srgbClr val="2563EB"/>
                  </a:solidFill>
                  <a:latin typeface="Inter Bold"/>
                  <a:ea typeface="Inter Bold"/>
                  <a:cs typeface="Inter Bold"/>
                  <a:sym typeface="Inter Bold"/>
                </a:rPr>
                <a:t>ey Findings</a:t>
              </a:r>
            </a:p>
          </p:txBody>
        </p:sp>
        <p:sp>
          <p:nvSpPr>
            <p:cNvPr name="TextBox 5" id="5"/>
            <p:cNvSpPr txBox="true"/>
            <p:nvPr/>
          </p:nvSpPr>
          <p:spPr>
            <a:xfrm rot="0">
              <a:off x="0" y="711100"/>
              <a:ext cx="20349148" cy="1632710"/>
            </a:xfrm>
            <a:prstGeom prst="rect">
              <a:avLst/>
            </a:prstGeom>
          </p:spPr>
          <p:txBody>
            <a:bodyPr anchor="t" rtlCol="false" tIns="0" lIns="0" bIns="0" rIns="0">
              <a:spAutoFit/>
            </a:bodyPr>
            <a:lstStyle/>
            <a:p>
              <a:pPr algn="l">
                <a:lnSpc>
                  <a:spcPts val="3352"/>
                </a:lnSpc>
              </a:pPr>
              <a:r>
                <a:rPr lang="en-US" sz="2095" b="true">
                  <a:solidFill>
                    <a:srgbClr val="000000"/>
                  </a:solidFill>
                  <a:latin typeface="Inter Bold"/>
                  <a:ea typeface="Inter Bold"/>
                  <a:cs typeface="Inter Bold"/>
                  <a:sym typeface="Inter Bold"/>
                </a:rPr>
                <a:t>Brooklyn</a:t>
              </a:r>
              <a:r>
                <a:rPr lang="en-US" sz="2095">
                  <a:solidFill>
                    <a:srgbClr val="000000"/>
                  </a:solidFill>
                  <a:latin typeface="Inter"/>
                  <a:ea typeface="Inter"/>
                  <a:cs typeface="Inter"/>
                  <a:sym typeface="Inter"/>
                </a:rPr>
                <a:t> contains </a:t>
              </a:r>
              <a:r>
                <a:rPr lang="en-US" sz="2095" b="true">
                  <a:solidFill>
                    <a:srgbClr val="000000"/>
                  </a:solidFill>
                  <a:latin typeface="Inter Bold"/>
                  <a:ea typeface="Inter Bold"/>
                  <a:cs typeface="Inter Bold"/>
                  <a:sym typeface="Inter Bold"/>
                </a:rPr>
                <a:t>20,104</a:t>
              </a:r>
              <a:r>
                <a:rPr lang="en-US" sz="2095">
                  <a:solidFill>
                    <a:srgbClr val="000000"/>
                  </a:solidFill>
                  <a:latin typeface="Inter"/>
                  <a:ea typeface="Inter"/>
                  <a:cs typeface="Inter"/>
                  <a:sym typeface="Inter"/>
                </a:rPr>
                <a:t> Listings making it the largest Airbnb market in NYC.</a:t>
              </a:r>
            </a:p>
            <a:p>
              <a:pPr algn="l">
                <a:lnSpc>
                  <a:spcPts val="3352"/>
                </a:lnSpc>
              </a:pPr>
            </a:p>
            <a:p>
              <a:pPr algn="l">
                <a:lnSpc>
                  <a:spcPts val="3512"/>
                </a:lnSpc>
              </a:pPr>
              <a:r>
                <a:rPr lang="en-US" sz="2195" b="true">
                  <a:solidFill>
                    <a:srgbClr val="000000"/>
                  </a:solidFill>
                  <a:latin typeface="Inter Bold"/>
                  <a:ea typeface="Inter Bold"/>
                  <a:cs typeface="Inter Bold"/>
                  <a:sym typeface="Inter Bold"/>
                </a:rPr>
                <a:t>Manhattan </a:t>
              </a:r>
              <a:r>
                <a:rPr lang="en-US" sz="2195">
                  <a:solidFill>
                    <a:srgbClr val="000000"/>
                  </a:solidFill>
                  <a:latin typeface="Inter"/>
                  <a:ea typeface="Inter"/>
                  <a:cs typeface="Inter"/>
                  <a:sym typeface="Inter"/>
                </a:rPr>
                <a:t>has the highest average nightly price </a:t>
              </a:r>
              <a:r>
                <a:rPr lang="en-US" sz="2195" b="true">
                  <a:solidFill>
                    <a:srgbClr val="000000"/>
                  </a:solidFill>
                  <a:latin typeface="Inter Bold"/>
                  <a:ea typeface="Inter Bold"/>
                  <a:cs typeface="Inter Bold"/>
                  <a:sym typeface="Inter Bold"/>
                </a:rPr>
                <a:t>$196.88</a:t>
              </a:r>
              <a:r>
                <a:rPr lang="en-US" sz="2195">
                  <a:solidFill>
                    <a:srgbClr val="000000"/>
                  </a:solidFill>
                  <a:latin typeface="Inter"/>
                  <a:ea typeface="Inter"/>
                  <a:cs typeface="Inter"/>
                  <a:sym typeface="Inter"/>
                </a:rPr>
                <a:t> because of strong tourist demand and premium locations.</a:t>
              </a:r>
            </a:p>
          </p:txBody>
        </p:sp>
        <p:sp>
          <p:nvSpPr>
            <p:cNvPr name="Freeform 6" id="6"/>
            <p:cNvSpPr/>
            <p:nvPr/>
          </p:nvSpPr>
          <p:spPr>
            <a:xfrm flipH="false" flipV="false" rot="0">
              <a:off x="9773" y="80082"/>
              <a:ext cx="373970" cy="288297"/>
            </a:xfrm>
            <a:custGeom>
              <a:avLst/>
              <a:gdLst/>
              <a:ahLst/>
              <a:cxnLst/>
              <a:rect r="r" b="b" t="t" l="l"/>
              <a:pathLst>
                <a:path h="288297" w="373970">
                  <a:moveTo>
                    <a:pt x="0" y="0"/>
                  </a:moveTo>
                  <a:lnTo>
                    <a:pt x="373970" y="0"/>
                  </a:lnTo>
                  <a:lnTo>
                    <a:pt x="373970" y="288297"/>
                  </a:lnTo>
                  <a:lnTo>
                    <a:pt x="0" y="2882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7" id="7"/>
          <p:cNvGrpSpPr/>
          <p:nvPr/>
        </p:nvGrpSpPr>
        <p:grpSpPr>
          <a:xfrm rot="0">
            <a:off x="1021227" y="7969319"/>
            <a:ext cx="11653814" cy="912495"/>
            <a:chOff x="0" y="0"/>
            <a:chExt cx="15538419" cy="1216661"/>
          </a:xfrm>
        </p:grpSpPr>
        <p:sp>
          <p:nvSpPr>
            <p:cNvPr name="TextBox 8" id="8"/>
            <p:cNvSpPr txBox="true"/>
            <p:nvPr/>
          </p:nvSpPr>
          <p:spPr>
            <a:xfrm rot="0">
              <a:off x="838200" y="-76200"/>
              <a:ext cx="8403119" cy="581660"/>
            </a:xfrm>
            <a:prstGeom prst="rect">
              <a:avLst/>
            </a:prstGeom>
          </p:spPr>
          <p:txBody>
            <a:bodyPr anchor="t" rtlCol="false" tIns="0" lIns="0" bIns="0" rIns="0">
              <a:spAutoFit/>
            </a:bodyPr>
            <a:lstStyle/>
            <a:p>
              <a:pPr algn="l">
                <a:lnSpc>
                  <a:spcPts val="3824"/>
                </a:lnSpc>
              </a:pPr>
              <a:r>
                <a:rPr lang="en-US" sz="2549" b="true">
                  <a:solidFill>
                    <a:srgbClr val="2563EB"/>
                  </a:solidFill>
                  <a:latin typeface="Inter Bold"/>
                  <a:ea typeface="Inter Bold"/>
                  <a:cs typeface="Inter Bold"/>
                  <a:sym typeface="Inter Bold"/>
                </a:rPr>
                <a:t>Busin</a:t>
              </a:r>
              <a:r>
                <a:rPr lang="en-US" sz="2549" b="true">
                  <a:solidFill>
                    <a:srgbClr val="2563EB"/>
                  </a:solidFill>
                  <a:latin typeface="Inter Bold"/>
                  <a:ea typeface="Inter Bold"/>
                  <a:cs typeface="Inter Bold"/>
                  <a:sym typeface="Inter Bold"/>
                </a:rPr>
                <a:t>ess Insight</a:t>
              </a:r>
            </a:p>
          </p:txBody>
        </p:sp>
        <p:sp>
          <p:nvSpPr>
            <p:cNvPr name="TextBox 9" id="9"/>
            <p:cNvSpPr txBox="true"/>
            <p:nvPr/>
          </p:nvSpPr>
          <p:spPr>
            <a:xfrm rot="0">
              <a:off x="0" y="723900"/>
              <a:ext cx="15538419" cy="492761"/>
            </a:xfrm>
            <a:prstGeom prst="rect">
              <a:avLst/>
            </a:prstGeom>
          </p:spPr>
          <p:txBody>
            <a:bodyPr anchor="t" rtlCol="false" tIns="0" lIns="0" bIns="0" rIns="0">
              <a:spAutoFit/>
            </a:bodyPr>
            <a:lstStyle/>
            <a:p>
              <a:pPr algn="l">
                <a:lnSpc>
                  <a:spcPts val="3359"/>
                </a:lnSpc>
              </a:pPr>
              <a:r>
                <a:rPr lang="en-US" sz="2099">
                  <a:solidFill>
                    <a:srgbClr val="000000"/>
                  </a:solidFill>
                  <a:latin typeface="Inter"/>
                  <a:ea typeface="Inter"/>
                  <a:cs typeface="Inter"/>
                  <a:sym typeface="Inter"/>
                </a:rPr>
                <a:t>H</a:t>
              </a:r>
              <a:r>
                <a:rPr lang="en-US" sz="2099">
                  <a:solidFill>
                    <a:srgbClr val="000000"/>
                  </a:solidFill>
                  <a:latin typeface="Inter"/>
                  <a:ea typeface="Inter"/>
                  <a:cs typeface="Inter"/>
                  <a:sym typeface="Inter"/>
                </a:rPr>
                <a:t>igh supply exists in Brooklyn, while Manhattan remains the premium pricing market.</a:t>
              </a:r>
            </a:p>
          </p:txBody>
        </p:sp>
        <p:sp>
          <p:nvSpPr>
            <p:cNvPr name="Freeform 10" id="10"/>
            <p:cNvSpPr/>
            <p:nvPr/>
          </p:nvSpPr>
          <p:spPr>
            <a:xfrm flipH="false" flipV="false" rot="0">
              <a:off x="0" y="81643"/>
              <a:ext cx="381257" cy="293914"/>
            </a:xfrm>
            <a:custGeom>
              <a:avLst/>
              <a:gdLst/>
              <a:ahLst/>
              <a:cxnLst/>
              <a:rect r="r" b="b" t="t" l="l"/>
              <a:pathLst>
                <a:path h="293914" w="381257">
                  <a:moveTo>
                    <a:pt x="0" y="0"/>
                  </a:moveTo>
                  <a:lnTo>
                    <a:pt x="381257" y="0"/>
                  </a:lnTo>
                  <a:lnTo>
                    <a:pt x="381257" y="293914"/>
                  </a:lnTo>
                  <a:lnTo>
                    <a:pt x="0" y="293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1021227" y="5253423"/>
            <a:ext cx="7943850" cy="2204466"/>
            <a:chOff x="0" y="0"/>
            <a:chExt cx="10591800" cy="2939289"/>
          </a:xfrm>
        </p:grpSpPr>
        <p:sp>
          <p:nvSpPr>
            <p:cNvPr name="TextBox 12" id="12"/>
            <p:cNvSpPr txBox="true"/>
            <p:nvPr/>
          </p:nvSpPr>
          <p:spPr>
            <a:xfrm rot="0">
              <a:off x="838200" y="-76200"/>
              <a:ext cx="7315200" cy="561340"/>
            </a:xfrm>
            <a:prstGeom prst="rect">
              <a:avLst/>
            </a:prstGeom>
          </p:spPr>
          <p:txBody>
            <a:bodyPr anchor="t" rtlCol="false" tIns="0" lIns="0" bIns="0" rIns="0">
              <a:spAutoFit/>
            </a:bodyPr>
            <a:lstStyle/>
            <a:p>
              <a:pPr algn="l">
                <a:lnSpc>
                  <a:spcPts val="3674"/>
                </a:lnSpc>
              </a:pPr>
              <a:r>
                <a:rPr lang="en-US" sz="2449" b="true">
                  <a:solidFill>
                    <a:srgbClr val="2563EB"/>
                  </a:solidFill>
                  <a:latin typeface="Inter Bold"/>
                  <a:ea typeface="Inter Bold"/>
                  <a:cs typeface="Inter Bold"/>
                  <a:sym typeface="Inter Bold"/>
                </a:rPr>
                <a:t>Roo</a:t>
              </a:r>
              <a:r>
                <a:rPr lang="en-US" sz="2449" b="true">
                  <a:solidFill>
                    <a:srgbClr val="2563EB"/>
                  </a:solidFill>
                  <a:latin typeface="Inter Bold"/>
                  <a:ea typeface="Inter Bold"/>
                  <a:cs typeface="Inter Bold"/>
                  <a:sym typeface="Inter Bold"/>
                </a:rPr>
                <a:t>m Type Analysis</a:t>
              </a:r>
            </a:p>
          </p:txBody>
        </p:sp>
        <p:sp>
          <p:nvSpPr>
            <p:cNvPr name="TextBox 13" id="13"/>
            <p:cNvSpPr txBox="true"/>
            <p:nvPr/>
          </p:nvSpPr>
          <p:spPr>
            <a:xfrm rot="0">
              <a:off x="0" y="676275"/>
              <a:ext cx="10591800" cy="2263014"/>
            </a:xfrm>
            <a:prstGeom prst="rect">
              <a:avLst/>
            </a:prstGeom>
          </p:spPr>
          <p:txBody>
            <a:bodyPr anchor="t" rtlCol="false" tIns="0" lIns="0" bIns="0" rIns="0">
              <a:spAutoFit/>
            </a:bodyPr>
            <a:lstStyle/>
            <a:p>
              <a:pPr algn="l" marL="453388" indent="-226694" lvl="1">
                <a:lnSpc>
                  <a:spcPts val="3863"/>
                </a:lnSpc>
                <a:buFont typeface="Arial"/>
                <a:buChar char="•"/>
              </a:pPr>
              <a:r>
                <a:rPr lang="en-US" sz="2099">
                  <a:solidFill>
                    <a:srgbClr val="000000"/>
                  </a:solidFill>
                  <a:latin typeface="Inter"/>
                  <a:ea typeface="Inter"/>
                  <a:cs typeface="Inter"/>
                  <a:sym typeface="Inter"/>
                </a:rPr>
                <a:t>Entire Home/Apartments</a:t>
              </a:r>
            </a:p>
            <a:p>
              <a:pPr algn="l" marL="453388" indent="-226694" lvl="1">
                <a:lnSpc>
                  <a:spcPts val="3359"/>
                </a:lnSpc>
                <a:buFont typeface="Arial"/>
                <a:buChar char="•"/>
              </a:pPr>
              <a:r>
                <a:rPr lang="en-US" sz="2099">
                  <a:solidFill>
                    <a:srgbClr val="000000"/>
                  </a:solidFill>
                  <a:latin typeface="Inter"/>
                  <a:ea typeface="Inter"/>
                  <a:cs typeface="Inter"/>
                  <a:sym typeface="Inter"/>
                </a:rPr>
                <a:t>Highest Average Price</a:t>
              </a:r>
            </a:p>
            <a:p>
              <a:pPr algn="l" marL="453388" indent="-226694" lvl="1">
                <a:lnSpc>
                  <a:spcPts val="3359"/>
                </a:lnSpc>
                <a:buFont typeface="Arial"/>
                <a:buChar char="•"/>
              </a:pPr>
              <a:r>
                <a:rPr lang="en-US" sz="2099">
                  <a:solidFill>
                    <a:srgbClr val="000000"/>
                  </a:solidFill>
                  <a:latin typeface="Inter"/>
                  <a:ea typeface="Inter"/>
                  <a:cs typeface="Inter"/>
                  <a:sym typeface="Inter"/>
                </a:rPr>
                <a:t>Private Rooms</a:t>
              </a:r>
            </a:p>
            <a:p>
              <a:pPr algn="l" marL="453388" indent="-226694" lvl="1">
                <a:lnSpc>
                  <a:spcPts val="3359"/>
                </a:lnSpc>
                <a:buFont typeface="Arial"/>
                <a:buChar char="•"/>
              </a:pPr>
              <a:r>
                <a:rPr lang="en-US" sz="2099">
                  <a:solidFill>
                    <a:srgbClr val="000000"/>
                  </a:solidFill>
                  <a:latin typeface="Inter"/>
                  <a:ea typeface="Inter"/>
                  <a:cs typeface="Inter"/>
                  <a:sym typeface="Inter"/>
                </a:rPr>
                <a:t>Highest Booking Frequency</a:t>
              </a:r>
            </a:p>
          </p:txBody>
        </p:sp>
        <p:sp>
          <p:nvSpPr>
            <p:cNvPr name="Freeform 14" id="14"/>
            <p:cNvSpPr/>
            <p:nvPr/>
          </p:nvSpPr>
          <p:spPr>
            <a:xfrm flipH="false" flipV="false" rot="0">
              <a:off x="0" y="81643"/>
              <a:ext cx="381257" cy="293914"/>
            </a:xfrm>
            <a:custGeom>
              <a:avLst/>
              <a:gdLst/>
              <a:ahLst/>
              <a:cxnLst/>
              <a:rect r="r" b="b" t="t" l="l"/>
              <a:pathLst>
                <a:path h="293914" w="381257">
                  <a:moveTo>
                    <a:pt x="0" y="0"/>
                  </a:moveTo>
                  <a:lnTo>
                    <a:pt x="381257" y="0"/>
                  </a:lnTo>
                  <a:lnTo>
                    <a:pt x="381257" y="293914"/>
                  </a:lnTo>
                  <a:lnTo>
                    <a:pt x="0" y="293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5" id="15"/>
          <p:cNvSpPr txBox="true"/>
          <p:nvPr/>
        </p:nvSpPr>
        <p:spPr>
          <a:xfrm rot="0">
            <a:off x="1215461" y="816187"/>
            <a:ext cx="4261545" cy="609600"/>
          </a:xfrm>
          <a:prstGeom prst="rect">
            <a:avLst/>
          </a:prstGeom>
        </p:spPr>
        <p:txBody>
          <a:bodyPr anchor="t" rtlCol="false" tIns="0" lIns="0" bIns="0" rIns="0">
            <a:spAutoFit/>
          </a:bodyPr>
          <a:lstStyle/>
          <a:p>
            <a:pPr algn="l">
              <a:lnSpc>
                <a:spcPts val="4860"/>
              </a:lnSpc>
            </a:pPr>
            <a:r>
              <a:rPr lang="en-US" sz="4050" b="true">
                <a:solidFill>
                  <a:srgbClr val="0F172A"/>
                </a:solidFill>
                <a:latin typeface="Inter Bold"/>
                <a:ea typeface="Inter Bold"/>
                <a:cs typeface="Inter Bold"/>
                <a:sym typeface="Inter Bold"/>
              </a:rPr>
              <a:t>Mark</a:t>
            </a:r>
            <a:r>
              <a:rPr lang="en-US" sz="4050" b="true">
                <a:solidFill>
                  <a:srgbClr val="0F172A"/>
                </a:solidFill>
                <a:latin typeface="Inter Bold"/>
                <a:ea typeface="Inter Bold"/>
                <a:cs typeface="Inter Bold"/>
                <a:sym typeface="Inter Bold"/>
              </a:rPr>
              <a:t>et Overview</a:t>
            </a:r>
          </a:p>
        </p:txBody>
      </p:sp>
      <p:sp>
        <p:nvSpPr>
          <p:cNvPr name="TextBox 16" id="16"/>
          <p:cNvSpPr txBox="true"/>
          <p:nvPr/>
        </p:nvSpPr>
        <p:spPr>
          <a:xfrm rot="0">
            <a:off x="1047750" y="2253864"/>
            <a:ext cx="13600905" cy="408623"/>
          </a:xfrm>
          <a:prstGeom prst="rect">
            <a:avLst/>
          </a:prstGeom>
        </p:spPr>
        <p:txBody>
          <a:bodyPr anchor="t" rtlCol="false" tIns="0" lIns="0" bIns="0" rIns="0">
            <a:spAutoFit/>
          </a:bodyPr>
          <a:lstStyle/>
          <a:p>
            <a:pPr algn="l">
              <a:lnSpc>
                <a:spcPts val="3412"/>
              </a:lnSpc>
            </a:pPr>
            <a:r>
              <a:rPr lang="en-US" b="true" sz="2274" spc="129" u="sng">
                <a:solidFill>
                  <a:srgbClr val="000000"/>
                </a:solidFill>
                <a:latin typeface="Inter Bold"/>
                <a:ea typeface="Inter Bold"/>
                <a:cs typeface="Inter Bold"/>
                <a:sym typeface="Inter Bold"/>
              </a:rPr>
              <a:t>Borough</a:t>
            </a:r>
            <a:r>
              <a:rPr lang="en-US" b="true" sz="2274" spc="129" u="sng">
                <a:solidFill>
                  <a:srgbClr val="000000"/>
                </a:solidFill>
                <a:latin typeface="Inter Bold"/>
                <a:ea typeface="Inter Bold"/>
                <a:cs typeface="Inter Bold"/>
                <a:sym typeface="Inter Bold"/>
              </a:rPr>
              <a:t> Performance</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69305" y="864834"/>
            <a:ext cx="4617343" cy="619125"/>
          </a:xfrm>
          <a:prstGeom prst="rect">
            <a:avLst/>
          </a:prstGeom>
        </p:spPr>
        <p:txBody>
          <a:bodyPr anchor="t" rtlCol="false" tIns="0" lIns="0" bIns="0" rIns="0">
            <a:spAutoFit/>
          </a:bodyPr>
          <a:lstStyle/>
          <a:p>
            <a:pPr algn="l">
              <a:lnSpc>
                <a:spcPts val="4979"/>
              </a:lnSpc>
            </a:pPr>
            <a:r>
              <a:rPr lang="en-US" sz="4149" b="true">
                <a:solidFill>
                  <a:srgbClr val="0F172A"/>
                </a:solidFill>
                <a:latin typeface="Inter Bold"/>
                <a:ea typeface="Inter Bold"/>
                <a:cs typeface="Inter Bold"/>
                <a:sym typeface="Inter Bold"/>
              </a:rPr>
              <a:t>Pricing</a:t>
            </a:r>
            <a:r>
              <a:rPr lang="en-US" sz="4149" b="true">
                <a:solidFill>
                  <a:srgbClr val="0F172A"/>
                </a:solidFill>
                <a:latin typeface="Inter Bold"/>
                <a:ea typeface="Inter Bold"/>
                <a:cs typeface="Inter Bold"/>
                <a:sym typeface="Inter Bold"/>
              </a:rPr>
              <a:t> &amp; Revenue</a:t>
            </a:r>
          </a:p>
        </p:txBody>
      </p:sp>
      <p:grpSp>
        <p:nvGrpSpPr>
          <p:cNvPr name="Group 3" id="3"/>
          <p:cNvGrpSpPr/>
          <p:nvPr/>
        </p:nvGrpSpPr>
        <p:grpSpPr>
          <a:xfrm rot="0">
            <a:off x="1269305" y="2535937"/>
            <a:ext cx="6554923" cy="4201495"/>
            <a:chOff x="0" y="0"/>
            <a:chExt cx="8739898" cy="5601993"/>
          </a:xfrm>
        </p:grpSpPr>
        <p:sp>
          <p:nvSpPr>
            <p:cNvPr name="TextBox 4" id="4"/>
            <p:cNvSpPr txBox="true"/>
            <p:nvPr/>
          </p:nvSpPr>
          <p:spPr>
            <a:xfrm rot="0">
              <a:off x="0" y="521065"/>
              <a:ext cx="5487725" cy="596900"/>
            </a:xfrm>
            <a:prstGeom prst="rect">
              <a:avLst/>
            </a:prstGeom>
          </p:spPr>
          <p:txBody>
            <a:bodyPr anchor="t" rtlCol="false" tIns="0" lIns="0" bIns="0" rIns="0">
              <a:spAutoFit/>
            </a:bodyPr>
            <a:lstStyle/>
            <a:p>
              <a:pPr algn="l">
                <a:lnSpc>
                  <a:spcPts val="3539"/>
                </a:lnSpc>
              </a:pPr>
              <a:r>
                <a:rPr lang="en-US" sz="2949" b="true">
                  <a:solidFill>
                    <a:srgbClr val="0F172A"/>
                  </a:solidFill>
                  <a:latin typeface="Inter Bold"/>
                  <a:ea typeface="Inter Bold"/>
                  <a:cs typeface="Inter Bold"/>
                  <a:sym typeface="Inter Bold"/>
                </a:rPr>
                <a:t>Revenue Analysis</a:t>
              </a:r>
            </a:p>
          </p:txBody>
        </p:sp>
        <p:sp>
          <p:nvSpPr>
            <p:cNvPr name="TextBox 5" id="5"/>
            <p:cNvSpPr txBox="true"/>
            <p:nvPr/>
          </p:nvSpPr>
          <p:spPr>
            <a:xfrm rot="0">
              <a:off x="0" y="1395329"/>
              <a:ext cx="8739898" cy="4206664"/>
            </a:xfrm>
            <a:prstGeom prst="rect">
              <a:avLst/>
            </a:prstGeom>
          </p:spPr>
          <p:txBody>
            <a:bodyPr anchor="t" rtlCol="false" tIns="0" lIns="0" bIns="0" rIns="0">
              <a:spAutoFit/>
            </a:bodyPr>
            <a:lstStyle/>
            <a:p>
              <a:pPr algn="l">
                <a:lnSpc>
                  <a:spcPts val="3839"/>
                </a:lnSpc>
              </a:pPr>
              <a:r>
                <a:rPr lang="en-US" sz="2399" b="true">
                  <a:solidFill>
                    <a:srgbClr val="000000"/>
                  </a:solidFill>
                  <a:latin typeface="Inter Bold"/>
                  <a:ea typeface="Inter Bold"/>
                  <a:cs typeface="Inter Bold"/>
                  <a:sym typeface="Inter Bold"/>
                </a:rPr>
                <a:t>H</a:t>
              </a:r>
              <a:r>
                <a:rPr lang="en-US" sz="2399" b="true">
                  <a:solidFill>
                    <a:srgbClr val="000000"/>
                  </a:solidFill>
                  <a:latin typeface="Inter Bold"/>
                  <a:ea typeface="Inter Bold"/>
                  <a:cs typeface="Inter Bold"/>
                  <a:sym typeface="Inter Bold"/>
                </a:rPr>
                <a:t>ighest Revenue Neighborhood</a:t>
              </a:r>
            </a:p>
            <a:p>
              <a:pPr algn="l">
                <a:lnSpc>
                  <a:spcPts val="3999"/>
                </a:lnSpc>
              </a:pPr>
              <a:r>
                <a:rPr lang="en-US" sz="2499" b="true">
                  <a:solidFill>
                    <a:srgbClr val="2563EB"/>
                  </a:solidFill>
                  <a:latin typeface="Inter Bold"/>
                  <a:ea typeface="Inter Bold"/>
                  <a:cs typeface="Inter Bold"/>
                  <a:sym typeface="Inter Bold"/>
                </a:rPr>
                <a:t>Woodrow</a:t>
              </a:r>
            </a:p>
            <a:p>
              <a:pPr algn="l">
                <a:lnSpc>
                  <a:spcPts val="3359"/>
                </a:lnSpc>
              </a:pPr>
              <a:r>
                <a:rPr lang="en-US" sz="2099">
                  <a:solidFill>
                    <a:srgbClr val="334155"/>
                  </a:solidFill>
                  <a:latin typeface="Inter"/>
                  <a:ea typeface="Inter"/>
                  <a:cs typeface="Inter"/>
                  <a:sym typeface="Inter"/>
                </a:rPr>
                <a:t>(Staten Island)</a:t>
              </a:r>
            </a:p>
            <a:p>
              <a:pPr algn="l">
                <a:lnSpc>
                  <a:spcPts val="3359"/>
                </a:lnSpc>
              </a:pPr>
            </a:p>
            <a:p>
              <a:pPr algn="l">
                <a:lnSpc>
                  <a:spcPts val="3679"/>
                </a:lnSpc>
              </a:pPr>
              <a:r>
                <a:rPr lang="en-US" sz="2299">
                  <a:solidFill>
                    <a:srgbClr val="000000"/>
                  </a:solidFill>
                  <a:latin typeface="Inter"/>
                  <a:ea typeface="Inter"/>
                  <a:cs typeface="Inter"/>
                  <a:sym typeface="Inter"/>
                </a:rPr>
                <a:t>Estimated Annual Revenue</a:t>
              </a:r>
            </a:p>
            <a:p>
              <a:pPr algn="l">
                <a:lnSpc>
                  <a:spcPts val="3679"/>
                </a:lnSpc>
              </a:pPr>
              <a:r>
                <a:rPr lang="en-US" sz="2299" b="true">
                  <a:solidFill>
                    <a:srgbClr val="10B981"/>
                  </a:solidFill>
                  <a:latin typeface="Inter Bold"/>
                  <a:ea typeface="Inter Bold"/>
                  <a:cs typeface="Inter Bold"/>
                  <a:sym typeface="Inter Bold"/>
                </a:rPr>
                <a:t>$255,500</a:t>
              </a:r>
            </a:p>
            <a:p>
              <a:pPr algn="l">
                <a:lnSpc>
                  <a:spcPts val="3519"/>
                </a:lnSpc>
              </a:pPr>
            </a:p>
          </p:txBody>
        </p:sp>
        <p:sp>
          <p:nvSpPr>
            <p:cNvPr name="AutoShape 6" id="6"/>
            <p:cNvSpPr/>
            <p:nvPr/>
          </p:nvSpPr>
          <p:spPr>
            <a:xfrm>
              <a:off x="0" y="63500"/>
              <a:ext cx="8450556" cy="0"/>
            </a:xfrm>
            <a:prstGeom prst="line">
              <a:avLst/>
            </a:prstGeom>
            <a:ln cap="flat" w="127000">
              <a:solidFill>
                <a:srgbClr val="64748B"/>
              </a:solidFill>
              <a:prstDash val="solid"/>
              <a:headEnd type="none" len="sm" w="sm"/>
              <a:tailEnd type="none" len="sm" w="sm"/>
            </a:ln>
          </p:spPr>
        </p:sp>
      </p:grpSp>
      <p:sp>
        <p:nvSpPr>
          <p:cNvPr name="AutoShape 7" id="7"/>
          <p:cNvSpPr/>
          <p:nvPr/>
        </p:nvSpPr>
        <p:spPr>
          <a:xfrm flipH="true" flipV="true">
            <a:off x="1047750" y="932340"/>
            <a:ext cx="0" cy="453615"/>
          </a:xfrm>
          <a:prstGeom prst="line">
            <a:avLst/>
          </a:prstGeom>
          <a:ln cap="flat" w="66675">
            <a:solidFill>
              <a:srgbClr val="2563EB"/>
            </a:solidFill>
            <a:prstDash val="solid"/>
            <a:headEnd type="none" len="sm" w="sm"/>
            <a:tailEnd type="none" len="sm" w="sm"/>
          </a:ln>
        </p:spPr>
      </p:sp>
      <p:grpSp>
        <p:nvGrpSpPr>
          <p:cNvPr name="Group 8" id="8"/>
          <p:cNvGrpSpPr/>
          <p:nvPr/>
        </p:nvGrpSpPr>
        <p:grpSpPr>
          <a:xfrm rot="0">
            <a:off x="1293396" y="7527183"/>
            <a:ext cx="14399181" cy="1429165"/>
            <a:chOff x="0" y="0"/>
            <a:chExt cx="19198907" cy="1905553"/>
          </a:xfrm>
        </p:grpSpPr>
        <p:sp>
          <p:nvSpPr>
            <p:cNvPr name="TextBox 9" id="9"/>
            <p:cNvSpPr txBox="true"/>
            <p:nvPr/>
          </p:nvSpPr>
          <p:spPr>
            <a:xfrm rot="0">
              <a:off x="0" y="867409"/>
              <a:ext cx="19198907" cy="1038144"/>
            </a:xfrm>
            <a:prstGeom prst="rect">
              <a:avLst/>
            </a:prstGeom>
          </p:spPr>
          <p:txBody>
            <a:bodyPr anchor="t" rtlCol="false" tIns="0" lIns="0" bIns="0" rIns="0">
              <a:spAutoFit/>
            </a:bodyPr>
            <a:lstStyle/>
            <a:p>
              <a:pPr algn="l">
                <a:lnSpc>
                  <a:spcPts val="3282"/>
                </a:lnSpc>
              </a:pPr>
              <a:r>
                <a:rPr lang="en-US" sz="2187" i="true">
                  <a:solidFill>
                    <a:srgbClr val="000000"/>
                  </a:solidFill>
                  <a:latin typeface="Inter Italics"/>
                  <a:ea typeface="Inter Italics"/>
                  <a:cs typeface="Inter Italics"/>
                  <a:sym typeface="Inter Italics"/>
                </a:rPr>
                <a:t>Mid-</a:t>
              </a:r>
              <a:r>
                <a:rPr lang="en-US" sz="2187" i="true">
                  <a:solidFill>
                    <a:srgbClr val="000000"/>
                  </a:solidFill>
                  <a:latin typeface="Inter Italics"/>
                  <a:ea typeface="Inter Italics"/>
                  <a:cs typeface="Inter Italics"/>
                  <a:sym typeface="Inter Italics"/>
                </a:rPr>
                <a:t>priced listings balance affordability and profitability, generating the strongest occupancy.</a:t>
              </a:r>
            </a:p>
            <a:p>
              <a:pPr algn="l">
                <a:lnSpc>
                  <a:spcPts val="3281"/>
                </a:lnSpc>
              </a:pPr>
            </a:p>
          </p:txBody>
        </p:sp>
        <p:sp>
          <p:nvSpPr>
            <p:cNvPr name="TextBox 10" id="10"/>
            <p:cNvSpPr txBox="true"/>
            <p:nvPr/>
          </p:nvSpPr>
          <p:spPr>
            <a:xfrm rot="0">
              <a:off x="0" y="-76200"/>
              <a:ext cx="8672640" cy="601982"/>
            </a:xfrm>
            <a:prstGeom prst="rect">
              <a:avLst/>
            </a:prstGeom>
          </p:spPr>
          <p:txBody>
            <a:bodyPr anchor="t" rtlCol="false" tIns="0" lIns="0" bIns="0" rIns="0">
              <a:spAutoFit/>
            </a:bodyPr>
            <a:lstStyle/>
            <a:p>
              <a:pPr algn="l">
                <a:lnSpc>
                  <a:spcPts val="3974"/>
                </a:lnSpc>
              </a:pPr>
              <a:r>
                <a:rPr lang="en-US" sz="2649" b="true">
                  <a:solidFill>
                    <a:srgbClr val="2563EB"/>
                  </a:solidFill>
                  <a:latin typeface="Inter Bold"/>
                  <a:ea typeface="Inter Bold"/>
                  <a:cs typeface="Inter Bold"/>
                  <a:sym typeface="Inter Bold"/>
                </a:rPr>
                <a:t>Business </a:t>
              </a:r>
              <a:r>
                <a:rPr lang="en-US" sz="2649" b="true">
                  <a:solidFill>
                    <a:srgbClr val="2563EB"/>
                  </a:solidFill>
                  <a:latin typeface="Inter Bold"/>
                  <a:ea typeface="Inter Bold"/>
                  <a:cs typeface="Inter Bold"/>
                  <a:sym typeface="Inter Bold"/>
                </a:rPr>
                <a:t>Insight</a:t>
              </a:r>
            </a:p>
          </p:txBody>
        </p:sp>
      </p:grpSp>
      <p:grpSp>
        <p:nvGrpSpPr>
          <p:cNvPr name="Group 11" id="11"/>
          <p:cNvGrpSpPr/>
          <p:nvPr/>
        </p:nvGrpSpPr>
        <p:grpSpPr>
          <a:xfrm rot="0">
            <a:off x="9832939" y="2535937"/>
            <a:ext cx="6473495" cy="4113865"/>
            <a:chOff x="0" y="0"/>
            <a:chExt cx="8631327" cy="5485153"/>
          </a:xfrm>
        </p:grpSpPr>
        <p:sp>
          <p:nvSpPr>
            <p:cNvPr name="TextBox 12" id="12"/>
            <p:cNvSpPr txBox="true"/>
            <p:nvPr/>
          </p:nvSpPr>
          <p:spPr>
            <a:xfrm rot="0">
              <a:off x="0" y="521065"/>
              <a:ext cx="5419554" cy="596900"/>
            </a:xfrm>
            <a:prstGeom prst="rect">
              <a:avLst/>
            </a:prstGeom>
          </p:spPr>
          <p:txBody>
            <a:bodyPr anchor="t" rtlCol="false" tIns="0" lIns="0" bIns="0" rIns="0">
              <a:spAutoFit/>
            </a:bodyPr>
            <a:lstStyle/>
            <a:p>
              <a:pPr algn="l">
                <a:lnSpc>
                  <a:spcPts val="3539"/>
                </a:lnSpc>
              </a:pPr>
              <a:r>
                <a:rPr lang="en-US" sz="2949" b="true">
                  <a:solidFill>
                    <a:srgbClr val="0F172A"/>
                  </a:solidFill>
                  <a:latin typeface="Inter Bold"/>
                  <a:ea typeface="Inter Bold"/>
                  <a:cs typeface="Inter Bold"/>
                  <a:sym typeface="Inter Bold"/>
                </a:rPr>
                <a:t>Prici</a:t>
              </a:r>
              <a:r>
                <a:rPr lang="en-US" sz="2949" b="true">
                  <a:solidFill>
                    <a:srgbClr val="0F172A"/>
                  </a:solidFill>
                  <a:latin typeface="Inter Bold"/>
                  <a:ea typeface="Inter Bold"/>
                  <a:cs typeface="Inter Bold"/>
                  <a:sym typeface="Inter Bold"/>
                </a:rPr>
                <a:t>ng Strategy</a:t>
              </a:r>
            </a:p>
          </p:txBody>
        </p:sp>
        <p:sp>
          <p:nvSpPr>
            <p:cNvPr name="TextBox 13" id="13"/>
            <p:cNvSpPr txBox="true"/>
            <p:nvPr/>
          </p:nvSpPr>
          <p:spPr>
            <a:xfrm rot="0">
              <a:off x="0" y="1404854"/>
              <a:ext cx="8631327" cy="4080299"/>
            </a:xfrm>
            <a:prstGeom prst="rect">
              <a:avLst/>
            </a:prstGeom>
          </p:spPr>
          <p:txBody>
            <a:bodyPr anchor="t" rtlCol="false" tIns="0" lIns="0" bIns="0" rIns="0">
              <a:spAutoFit/>
            </a:bodyPr>
            <a:lstStyle/>
            <a:p>
              <a:pPr algn="l">
                <a:lnSpc>
                  <a:spcPts val="3679"/>
                </a:lnSpc>
              </a:pPr>
              <a:r>
                <a:rPr lang="en-US" sz="2299" b="true">
                  <a:solidFill>
                    <a:srgbClr val="000000"/>
                  </a:solidFill>
                  <a:latin typeface="Inter Bold"/>
                  <a:ea typeface="Inter Bold"/>
                  <a:cs typeface="Inter Bold"/>
                  <a:sym typeface="Inter Bold"/>
                </a:rPr>
                <a:t>T</a:t>
              </a:r>
              <a:r>
                <a:rPr lang="en-US" sz="2299" b="true">
                  <a:solidFill>
                    <a:srgbClr val="000000"/>
                  </a:solidFill>
                  <a:latin typeface="Inter Bold"/>
                  <a:ea typeface="Inter Bold"/>
                  <a:cs typeface="Inter Bold"/>
                  <a:sym typeface="Inter Bold"/>
                </a:rPr>
                <a:t>he Mid Price Band</a:t>
              </a:r>
            </a:p>
            <a:p>
              <a:pPr algn="l">
                <a:lnSpc>
                  <a:spcPts val="3839"/>
                </a:lnSpc>
              </a:pPr>
              <a:r>
                <a:rPr lang="en-US" sz="2399" b="true">
                  <a:solidFill>
                    <a:srgbClr val="334155"/>
                  </a:solidFill>
                  <a:latin typeface="Inter Bold"/>
                  <a:ea typeface="Inter Bold"/>
                  <a:cs typeface="Inter Bold"/>
                  <a:sym typeface="Inter Bold"/>
                </a:rPr>
                <a:t>(</a:t>
              </a:r>
              <a:r>
                <a:rPr lang="en-US" sz="2399" b="true">
                  <a:solidFill>
                    <a:srgbClr val="10B981"/>
                  </a:solidFill>
                  <a:latin typeface="Inter Bold"/>
                  <a:ea typeface="Inter Bold"/>
                  <a:cs typeface="Inter Bold"/>
                  <a:sym typeface="Inter Bold"/>
                </a:rPr>
                <a:t>$50–150</a:t>
              </a:r>
              <a:r>
                <a:rPr lang="en-US" sz="2399" b="true">
                  <a:solidFill>
                    <a:srgbClr val="334155"/>
                  </a:solidFill>
                  <a:latin typeface="Inter Bold"/>
                  <a:ea typeface="Inter Bold"/>
                  <a:cs typeface="Inter Bold"/>
                  <a:sym typeface="Inter Bold"/>
                </a:rPr>
                <a:t>) </a:t>
              </a:r>
              <a:r>
                <a:rPr lang="en-US" sz="2399">
                  <a:solidFill>
                    <a:srgbClr val="334155"/>
                  </a:solidFill>
                  <a:latin typeface="Inter"/>
                  <a:ea typeface="Inter"/>
                  <a:cs typeface="Inter"/>
                  <a:sym typeface="Inter"/>
                </a:rPr>
                <a:t>achieves</a:t>
              </a:r>
            </a:p>
            <a:p>
              <a:pPr algn="l">
                <a:lnSpc>
                  <a:spcPts val="3199"/>
                </a:lnSpc>
              </a:pPr>
            </a:p>
            <a:p>
              <a:pPr algn="l">
                <a:lnSpc>
                  <a:spcPts val="3679"/>
                </a:lnSpc>
              </a:pPr>
              <a:r>
                <a:rPr lang="en-US" sz="2299" b="true">
                  <a:solidFill>
                    <a:srgbClr val="000000"/>
                  </a:solidFill>
                  <a:latin typeface="Inter Bold"/>
                  <a:ea typeface="Inter Bold"/>
                  <a:cs typeface="Inter Bold"/>
                  <a:sym typeface="Inter Bold"/>
                </a:rPr>
                <a:t>262 Average Booked Days per Year</a:t>
              </a:r>
              <a:r>
                <a:rPr lang="en-US" sz="2299">
                  <a:solidFill>
                    <a:srgbClr val="000000"/>
                  </a:solidFill>
                  <a:latin typeface="Inter"/>
                  <a:ea typeface="Inter"/>
                  <a:cs typeface="Inter"/>
                  <a:sym typeface="Inter"/>
                </a:rPr>
                <a:t> making it the pricing sweet spot.</a:t>
              </a:r>
            </a:p>
            <a:p>
              <a:pPr algn="l">
                <a:lnSpc>
                  <a:spcPts val="3359"/>
                </a:lnSpc>
              </a:pPr>
            </a:p>
            <a:p>
              <a:pPr algn="l">
                <a:lnSpc>
                  <a:spcPts val="3199"/>
                </a:lnSpc>
              </a:pPr>
            </a:p>
          </p:txBody>
        </p:sp>
        <p:sp>
          <p:nvSpPr>
            <p:cNvPr name="AutoShape 14" id="14"/>
            <p:cNvSpPr/>
            <p:nvPr/>
          </p:nvSpPr>
          <p:spPr>
            <a:xfrm>
              <a:off x="0" y="63500"/>
              <a:ext cx="8345580" cy="0"/>
            </a:xfrm>
            <a:prstGeom prst="line">
              <a:avLst/>
            </a:prstGeom>
            <a:ln cap="flat" w="127000">
              <a:solidFill>
                <a:srgbClr val="64748B"/>
              </a:solidFill>
              <a:prstDash val="solid"/>
              <a:headEnd type="none" len="sm" w="sm"/>
              <a:tailEnd type="none" len="sm" w="sm"/>
            </a:ln>
          </p:spPr>
        </p:sp>
      </p:gr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57300" y="874359"/>
            <a:ext cx="4632027" cy="619125"/>
          </a:xfrm>
          <a:prstGeom prst="rect">
            <a:avLst/>
          </a:prstGeom>
        </p:spPr>
        <p:txBody>
          <a:bodyPr anchor="t" rtlCol="false" tIns="0" lIns="0" bIns="0" rIns="0">
            <a:spAutoFit/>
          </a:bodyPr>
          <a:lstStyle/>
          <a:p>
            <a:pPr algn="l">
              <a:lnSpc>
                <a:spcPts val="4979"/>
              </a:lnSpc>
            </a:pPr>
            <a:r>
              <a:rPr lang="en-US" sz="4149" b="true">
                <a:solidFill>
                  <a:srgbClr val="0F172A"/>
                </a:solidFill>
                <a:latin typeface="Inter Bold"/>
                <a:ea typeface="Inter Bold"/>
                <a:cs typeface="Inter Bold"/>
                <a:sym typeface="Inter Bold"/>
              </a:rPr>
              <a:t>Host Perfor</a:t>
            </a:r>
            <a:r>
              <a:rPr lang="en-US" sz="4149" b="true">
                <a:solidFill>
                  <a:srgbClr val="0F172A"/>
                </a:solidFill>
                <a:latin typeface="Inter Bold"/>
                <a:ea typeface="Inter Bold"/>
                <a:cs typeface="Inter Bold"/>
                <a:sym typeface="Inter Bold"/>
              </a:rPr>
              <a:t>mance</a:t>
            </a:r>
          </a:p>
        </p:txBody>
      </p:sp>
      <p:sp>
        <p:nvSpPr>
          <p:cNvPr name="TextBox 3" id="3"/>
          <p:cNvSpPr txBox="true"/>
          <p:nvPr/>
        </p:nvSpPr>
        <p:spPr>
          <a:xfrm rot="0">
            <a:off x="1028700" y="2128653"/>
            <a:ext cx="7080281" cy="488634"/>
          </a:xfrm>
          <a:prstGeom prst="rect">
            <a:avLst/>
          </a:prstGeom>
        </p:spPr>
        <p:txBody>
          <a:bodyPr anchor="t" rtlCol="false" tIns="0" lIns="0" bIns="0" rIns="0">
            <a:spAutoFit/>
          </a:bodyPr>
          <a:lstStyle/>
          <a:p>
            <a:pPr algn="l">
              <a:lnSpc>
                <a:spcPts val="4012"/>
              </a:lnSpc>
            </a:pPr>
            <a:r>
              <a:rPr lang="en-US" b="true" sz="2674" spc="152">
                <a:solidFill>
                  <a:srgbClr val="64748B"/>
                </a:solidFill>
                <a:latin typeface="Inter Bold"/>
                <a:ea typeface="Inter Bold"/>
                <a:cs typeface="Inter Bold"/>
                <a:sym typeface="Inter Bold"/>
              </a:rPr>
              <a:t>Professional vs Individual Hosts</a:t>
            </a:r>
          </a:p>
        </p:txBody>
      </p:sp>
      <p:sp>
        <p:nvSpPr>
          <p:cNvPr name="TextBox 4" id="4"/>
          <p:cNvSpPr txBox="true"/>
          <p:nvPr/>
        </p:nvSpPr>
        <p:spPr>
          <a:xfrm rot="0">
            <a:off x="1047750" y="3271506"/>
            <a:ext cx="15770371" cy="409575"/>
          </a:xfrm>
          <a:prstGeom prst="rect">
            <a:avLst/>
          </a:prstGeom>
        </p:spPr>
        <p:txBody>
          <a:bodyPr anchor="t" rtlCol="false" tIns="0" lIns="0" bIns="0" rIns="0">
            <a:spAutoFit/>
          </a:bodyPr>
          <a:lstStyle/>
          <a:p>
            <a:pPr algn="l">
              <a:lnSpc>
                <a:spcPts val="3375"/>
              </a:lnSpc>
            </a:pPr>
            <a:r>
              <a:rPr lang="en-US" sz="2250" b="true">
                <a:solidFill>
                  <a:srgbClr val="2563EB"/>
                </a:solidFill>
                <a:latin typeface="Inter Bold"/>
                <a:ea typeface="Inter Bold"/>
                <a:cs typeface="Inter Bold"/>
                <a:sym typeface="Inter Bold"/>
              </a:rPr>
              <a:t>K</a:t>
            </a:r>
            <a:r>
              <a:rPr lang="en-US" sz="2250" b="true">
                <a:solidFill>
                  <a:srgbClr val="2563EB"/>
                </a:solidFill>
                <a:latin typeface="Inter Bold"/>
                <a:ea typeface="Inter Bold"/>
                <a:cs typeface="Inter Bold"/>
                <a:sym typeface="Inter Bold"/>
              </a:rPr>
              <a:t>ey Findings</a:t>
            </a:r>
          </a:p>
        </p:txBody>
      </p:sp>
      <p:grpSp>
        <p:nvGrpSpPr>
          <p:cNvPr name="Group 5" id="5"/>
          <p:cNvGrpSpPr/>
          <p:nvPr/>
        </p:nvGrpSpPr>
        <p:grpSpPr>
          <a:xfrm rot="0">
            <a:off x="1088543" y="3963973"/>
            <a:ext cx="8900970" cy="2948940"/>
            <a:chOff x="0" y="0"/>
            <a:chExt cx="11867960" cy="3931921"/>
          </a:xfrm>
        </p:grpSpPr>
        <p:sp>
          <p:nvSpPr>
            <p:cNvPr name="TextBox 6" id="6"/>
            <p:cNvSpPr txBox="true"/>
            <p:nvPr/>
          </p:nvSpPr>
          <p:spPr>
            <a:xfrm rot="0">
              <a:off x="0" y="-57150"/>
              <a:ext cx="8797643" cy="1583691"/>
            </a:xfrm>
            <a:prstGeom prst="rect">
              <a:avLst/>
            </a:prstGeom>
          </p:spPr>
          <p:txBody>
            <a:bodyPr anchor="t" rtlCol="false" tIns="0" lIns="0" bIns="0" rIns="0">
              <a:spAutoFit/>
            </a:bodyPr>
            <a:lstStyle/>
            <a:p>
              <a:pPr algn="l">
                <a:lnSpc>
                  <a:spcPts val="3299"/>
                </a:lnSpc>
              </a:pPr>
              <a:r>
                <a:rPr lang="en-US" sz="2199" b="true">
                  <a:solidFill>
                    <a:srgbClr val="0F172A"/>
                  </a:solidFill>
                  <a:latin typeface="Inter Bold"/>
                  <a:ea typeface="Inter Bold"/>
                  <a:cs typeface="Inter Bold"/>
                  <a:sym typeface="Inter Bold"/>
                </a:rPr>
                <a:t>Professional Hosts</a:t>
              </a:r>
            </a:p>
            <a:p>
              <a:pPr algn="l" marL="474978" indent="-237489" lvl="1">
                <a:lnSpc>
                  <a:spcPts val="3299"/>
                </a:lnSpc>
                <a:buFont typeface="Arial"/>
                <a:buChar char="•"/>
              </a:pPr>
              <a:r>
                <a:rPr lang="en-US" sz="2199">
                  <a:solidFill>
                    <a:srgbClr val="0F172A"/>
                  </a:solidFill>
                  <a:latin typeface="Inter"/>
                  <a:ea typeface="Inter"/>
                  <a:cs typeface="Inter"/>
                  <a:sym typeface="Inter"/>
                </a:rPr>
                <a:t>Charge </a:t>
              </a:r>
              <a:r>
                <a:rPr lang="en-US" b="true" sz="2199">
                  <a:solidFill>
                    <a:srgbClr val="0F172A"/>
                  </a:solidFill>
                  <a:latin typeface="Inter Bold"/>
                  <a:ea typeface="Inter Bold"/>
                  <a:cs typeface="Inter Bold"/>
                  <a:sym typeface="Inter Bold"/>
                </a:rPr>
                <a:t>41%</a:t>
              </a:r>
              <a:r>
                <a:rPr lang="en-US" sz="2199">
                  <a:solidFill>
                    <a:srgbClr val="0F172A"/>
                  </a:solidFill>
                  <a:latin typeface="Inter"/>
                  <a:ea typeface="Inter"/>
                  <a:cs typeface="Inter"/>
                  <a:sym typeface="Inter"/>
                </a:rPr>
                <a:t> higher nightly prices</a:t>
              </a:r>
            </a:p>
            <a:p>
              <a:pPr algn="l">
                <a:lnSpc>
                  <a:spcPts val="3299"/>
                </a:lnSpc>
              </a:pPr>
            </a:p>
          </p:txBody>
        </p:sp>
        <p:sp>
          <p:nvSpPr>
            <p:cNvPr name="TextBox 7" id="7"/>
            <p:cNvSpPr txBox="true"/>
            <p:nvPr/>
          </p:nvSpPr>
          <p:spPr>
            <a:xfrm rot="0">
              <a:off x="54221" y="1256030"/>
              <a:ext cx="11813739" cy="2675891"/>
            </a:xfrm>
            <a:prstGeom prst="rect">
              <a:avLst/>
            </a:prstGeom>
          </p:spPr>
          <p:txBody>
            <a:bodyPr anchor="t" rtlCol="false" tIns="0" lIns="0" bIns="0" rIns="0">
              <a:spAutoFit/>
            </a:bodyPr>
            <a:lstStyle/>
            <a:p>
              <a:pPr algn="l">
                <a:lnSpc>
                  <a:spcPts val="3299"/>
                </a:lnSpc>
              </a:pPr>
              <a:r>
                <a:rPr lang="en-US" sz="2199" b="true">
                  <a:solidFill>
                    <a:srgbClr val="0F172A"/>
                  </a:solidFill>
                  <a:latin typeface="Inter Bold"/>
                  <a:ea typeface="Inter Bold"/>
                  <a:cs typeface="Inter Bold"/>
                  <a:sym typeface="Inter Bold"/>
                </a:rPr>
                <a:t>Individu</a:t>
              </a:r>
              <a:r>
                <a:rPr lang="en-US" sz="2199" b="true">
                  <a:solidFill>
                    <a:srgbClr val="0F172A"/>
                  </a:solidFill>
                  <a:latin typeface="Inter Bold"/>
                  <a:ea typeface="Inter Bold"/>
                  <a:cs typeface="Inter Bold"/>
                  <a:sym typeface="Inter Bold"/>
                </a:rPr>
                <a:t>al Hosts</a:t>
              </a:r>
            </a:p>
            <a:p>
              <a:pPr algn="l" marL="474978" indent="-237489" lvl="1">
                <a:lnSpc>
                  <a:spcPts val="3299"/>
                </a:lnSpc>
                <a:buFont typeface="Arial"/>
                <a:buChar char="•"/>
              </a:pPr>
              <a:r>
                <a:rPr lang="en-US" sz="2199">
                  <a:solidFill>
                    <a:srgbClr val="0F172A"/>
                  </a:solidFill>
                  <a:latin typeface="Inter"/>
                  <a:ea typeface="Inter"/>
                  <a:cs typeface="Inter"/>
                  <a:sym typeface="Inter"/>
                </a:rPr>
                <a:t>Generate approximately </a:t>
              </a:r>
              <a:r>
                <a:rPr lang="en-US" b="true" sz="2199">
                  <a:solidFill>
                    <a:srgbClr val="0F172A"/>
                  </a:solidFill>
                  <a:latin typeface="Inter Bold"/>
                  <a:ea typeface="Inter Bold"/>
                  <a:cs typeface="Inter Bold"/>
                  <a:sym typeface="Inter Bold"/>
                </a:rPr>
                <a:t>1.9×</a:t>
              </a:r>
              <a:r>
                <a:rPr lang="en-US" sz="2199">
                  <a:solidFill>
                    <a:srgbClr val="0F172A"/>
                  </a:solidFill>
                  <a:latin typeface="Inter"/>
                  <a:ea typeface="Inter"/>
                  <a:cs typeface="Inter"/>
                  <a:sym typeface="Inter"/>
                </a:rPr>
                <a:t> </a:t>
              </a:r>
              <a:r>
                <a:rPr lang="en-US" b="true" sz="2199">
                  <a:solidFill>
                    <a:srgbClr val="0F172A"/>
                  </a:solidFill>
                  <a:latin typeface="Inter Bold"/>
                  <a:ea typeface="Inter Bold"/>
                  <a:cs typeface="Inter Bold"/>
                  <a:sym typeface="Inter Bold"/>
                </a:rPr>
                <a:t>higher revenue per listing</a:t>
              </a:r>
            </a:p>
            <a:p>
              <a:pPr algn="l" marL="474978" indent="-237489" lvl="1">
                <a:lnSpc>
                  <a:spcPts val="3299"/>
                </a:lnSpc>
                <a:buFont typeface="Arial"/>
                <a:buChar char="•"/>
              </a:pPr>
              <a:r>
                <a:rPr lang="en-US" sz="2199">
                  <a:solidFill>
                    <a:srgbClr val="0F172A"/>
                  </a:solidFill>
                  <a:latin typeface="Inter"/>
                  <a:ea typeface="Inter"/>
                  <a:cs typeface="Inter"/>
                  <a:sym typeface="Inter"/>
                </a:rPr>
                <a:t>Receive nearly </a:t>
              </a:r>
              <a:r>
                <a:rPr lang="en-US" b="true" sz="2199">
                  <a:solidFill>
                    <a:srgbClr val="0F172A"/>
                  </a:solidFill>
                  <a:latin typeface="Inter Bold"/>
                  <a:ea typeface="Inter Bold"/>
                  <a:cs typeface="Inter Bold"/>
                  <a:sym typeface="Inter Bold"/>
                </a:rPr>
                <a:t>3× more reviews</a:t>
              </a:r>
            </a:p>
            <a:p>
              <a:pPr algn="l" marL="474978" indent="-237489" lvl="1">
                <a:lnSpc>
                  <a:spcPts val="3299"/>
                </a:lnSpc>
                <a:buFont typeface="Arial"/>
                <a:buChar char="•"/>
              </a:pPr>
              <a:r>
                <a:rPr lang="en-US" sz="2199">
                  <a:solidFill>
                    <a:srgbClr val="0F172A"/>
                  </a:solidFill>
                  <a:latin typeface="Inter"/>
                  <a:ea typeface="Inter"/>
                  <a:cs typeface="Inter"/>
                  <a:sym typeface="Inter"/>
                </a:rPr>
                <a:t>Maintain lower availability, indicating stronger occupancy</a:t>
              </a:r>
            </a:p>
            <a:p>
              <a:pPr algn="l">
                <a:lnSpc>
                  <a:spcPts val="3299"/>
                </a:lnSpc>
              </a:pPr>
            </a:p>
          </p:txBody>
        </p:sp>
      </p:grpSp>
      <p:sp>
        <p:nvSpPr>
          <p:cNvPr name="TextBox 8" id="8"/>
          <p:cNvSpPr txBox="true"/>
          <p:nvPr/>
        </p:nvSpPr>
        <p:spPr>
          <a:xfrm rot="0">
            <a:off x="1257300" y="8170214"/>
            <a:ext cx="3576722" cy="458153"/>
          </a:xfrm>
          <a:prstGeom prst="rect">
            <a:avLst/>
          </a:prstGeom>
        </p:spPr>
        <p:txBody>
          <a:bodyPr anchor="t" rtlCol="false" tIns="0" lIns="0" bIns="0" rIns="0">
            <a:spAutoFit/>
          </a:bodyPr>
          <a:lstStyle/>
          <a:p>
            <a:pPr algn="l">
              <a:lnSpc>
                <a:spcPts val="3712"/>
              </a:lnSpc>
            </a:pPr>
            <a:r>
              <a:rPr lang="en-US" sz="2474" b="true">
                <a:solidFill>
                  <a:srgbClr val="2563EB"/>
                </a:solidFill>
                <a:latin typeface="Inter Bold"/>
                <a:ea typeface="Inter Bold"/>
                <a:cs typeface="Inter Bold"/>
                <a:sym typeface="Inter Bold"/>
              </a:rPr>
              <a:t>Busi</a:t>
            </a:r>
            <a:r>
              <a:rPr lang="en-US" sz="2474" b="true">
                <a:solidFill>
                  <a:srgbClr val="2563EB"/>
                </a:solidFill>
                <a:latin typeface="Inter Bold"/>
                <a:ea typeface="Inter Bold"/>
                <a:cs typeface="Inter Bold"/>
                <a:sym typeface="Inter Bold"/>
              </a:rPr>
              <a:t>ness Insight</a:t>
            </a:r>
          </a:p>
        </p:txBody>
      </p:sp>
      <p:sp>
        <p:nvSpPr>
          <p:cNvPr name="TextBox 9" id="9"/>
          <p:cNvSpPr txBox="true"/>
          <p:nvPr/>
        </p:nvSpPr>
        <p:spPr>
          <a:xfrm rot="0">
            <a:off x="1257300" y="8856967"/>
            <a:ext cx="14237310" cy="383858"/>
          </a:xfrm>
          <a:prstGeom prst="rect">
            <a:avLst/>
          </a:prstGeom>
        </p:spPr>
        <p:txBody>
          <a:bodyPr anchor="t" rtlCol="false" tIns="0" lIns="0" bIns="0" rIns="0">
            <a:spAutoFit/>
          </a:bodyPr>
          <a:lstStyle/>
          <a:p>
            <a:pPr algn="l">
              <a:lnSpc>
                <a:spcPts val="3262"/>
              </a:lnSpc>
            </a:pPr>
            <a:r>
              <a:rPr lang="en-US" sz="2174">
                <a:solidFill>
                  <a:srgbClr val="000000"/>
                </a:solidFill>
                <a:latin typeface="Inter"/>
                <a:ea typeface="Inter"/>
                <a:cs typeface="Inter"/>
                <a:sym typeface="Inter"/>
              </a:rPr>
              <a:t>Individu</a:t>
            </a:r>
            <a:r>
              <a:rPr lang="en-US" sz="2174">
                <a:solidFill>
                  <a:srgbClr val="000000"/>
                </a:solidFill>
                <a:latin typeface="Inter"/>
                <a:ea typeface="Inter"/>
                <a:cs typeface="Inter"/>
                <a:sym typeface="Inter"/>
              </a:rPr>
              <a:t>al hosts achieve bet</a:t>
            </a:r>
            <a:r>
              <a:rPr lang="en-US" sz="2174">
                <a:solidFill>
                  <a:srgbClr val="000000"/>
                </a:solidFill>
                <a:latin typeface="Inter"/>
                <a:ea typeface="Inter"/>
                <a:cs typeface="Inter"/>
                <a:sym typeface="Inter"/>
              </a:rPr>
              <a:t>te</a:t>
            </a:r>
            <a:r>
              <a:rPr lang="en-US" sz="2174">
                <a:solidFill>
                  <a:srgbClr val="000000"/>
                </a:solidFill>
                <a:latin typeface="Inter"/>
                <a:ea typeface="Inter"/>
                <a:cs typeface="Inter"/>
                <a:sym typeface="Inter"/>
              </a:rPr>
              <a:t>r</a:t>
            </a:r>
            <a:r>
              <a:rPr lang="en-US" sz="2174">
                <a:solidFill>
                  <a:srgbClr val="000000"/>
                </a:solidFill>
                <a:latin typeface="Inter"/>
                <a:ea typeface="Inter"/>
                <a:cs typeface="Inter"/>
                <a:sym typeface="Inter"/>
              </a:rPr>
              <a:t> </a:t>
            </a:r>
            <a:r>
              <a:rPr lang="en-US" sz="2174">
                <a:solidFill>
                  <a:srgbClr val="000000"/>
                </a:solidFill>
                <a:latin typeface="Inter"/>
                <a:ea typeface="Inter"/>
                <a:cs typeface="Inter"/>
                <a:sym typeface="Inter"/>
              </a:rPr>
              <a:t>p</a:t>
            </a:r>
            <a:r>
              <a:rPr lang="en-US" sz="2174">
                <a:solidFill>
                  <a:srgbClr val="000000"/>
                </a:solidFill>
                <a:latin typeface="Inter"/>
                <a:ea typeface="Inter"/>
                <a:cs typeface="Inter"/>
                <a:sym typeface="Inter"/>
              </a:rPr>
              <a:t>er</a:t>
            </a:r>
            <a:r>
              <a:rPr lang="en-US" sz="2174">
                <a:solidFill>
                  <a:srgbClr val="000000"/>
                </a:solidFill>
                <a:latin typeface="Inter"/>
                <a:ea typeface="Inter"/>
                <a:cs typeface="Inter"/>
                <a:sym typeface="Inter"/>
              </a:rPr>
              <a:t>formance on a per-listing basis despite charging lower prices.</a:t>
            </a:r>
          </a:p>
        </p:txBody>
      </p:sp>
      <p:sp>
        <p:nvSpPr>
          <p:cNvPr name="AutoShape 10" id="10"/>
          <p:cNvSpPr/>
          <p:nvPr/>
        </p:nvSpPr>
        <p:spPr>
          <a:xfrm flipH="true" flipV="true">
            <a:off x="1047750" y="932340"/>
            <a:ext cx="0" cy="453615"/>
          </a:xfrm>
          <a:prstGeom prst="line">
            <a:avLst/>
          </a:prstGeom>
          <a:ln cap="flat" w="66675">
            <a:solidFill>
              <a:srgbClr val="2563EB"/>
            </a:solidFill>
            <a:prstDash val="solid"/>
            <a:headEnd type="none" len="sm" w="sm"/>
            <a:tailEnd type="none" len="sm" w="sm"/>
          </a:ln>
        </p:spPr>
      </p:sp>
      <p:grpSp>
        <p:nvGrpSpPr>
          <p:cNvPr name="Group 11" id="11"/>
          <p:cNvGrpSpPr/>
          <p:nvPr/>
        </p:nvGrpSpPr>
        <p:grpSpPr>
          <a:xfrm rot="0">
            <a:off x="10999920" y="3649648"/>
            <a:ext cx="6411786" cy="2131714"/>
            <a:chOff x="0" y="0"/>
            <a:chExt cx="8549048" cy="2842285"/>
          </a:xfrm>
        </p:grpSpPr>
        <p:sp>
          <p:nvSpPr>
            <p:cNvPr name="TextBox 12" id="12"/>
            <p:cNvSpPr txBox="true"/>
            <p:nvPr/>
          </p:nvSpPr>
          <p:spPr>
            <a:xfrm rot="0">
              <a:off x="240229" y="365125"/>
              <a:ext cx="5277158" cy="573406"/>
            </a:xfrm>
            <a:prstGeom prst="rect">
              <a:avLst/>
            </a:prstGeom>
          </p:spPr>
          <p:txBody>
            <a:bodyPr anchor="t" rtlCol="false" tIns="0" lIns="0" bIns="0" rIns="0">
              <a:spAutoFit/>
            </a:bodyPr>
            <a:lstStyle/>
            <a:p>
              <a:pPr algn="l">
                <a:lnSpc>
                  <a:spcPts val="3787"/>
                </a:lnSpc>
              </a:pPr>
              <a:r>
                <a:rPr lang="en-US" sz="2524" b="true">
                  <a:solidFill>
                    <a:srgbClr val="0F172A"/>
                  </a:solidFill>
                  <a:latin typeface="Inter Bold"/>
                  <a:ea typeface="Inter Bold"/>
                  <a:cs typeface="Inter Bold"/>
                  <a:sym typeface="Inter Bold"/>
                </a:rPr>
                <a:t>Top Ho</a:t>
              </a:r>
              <a:r>
                <a:rPr lang="en-US" sz="2524" b="true">
                  <a:solidFill>
                    <a:srgbClr val="0F172A"/>
                  </a:solidFill>
                  <a:latin typeface="Inter Bold"/>
                  <a:ea typeface="Inter Bold"/>
                  <a:cs typeface="Inter Bold"/>
                  <a:sym typeface="Inter Bold"/>
                </a:rPr>
                <a:t>st</a:t>
              </a:r>
            </a:p>
          </p:txBody>
        </p:sp>
        <p:sp>
          <p:nvSpPr>
            <p:cNvPr name="TextBox 13" id="13"/>
            <p:cNvSpPr txBox="true"/>
            <p:nvPr/>
          </p:nvSpPr>
          <p:spPr>
            <a:xfrm rot="0">
              <a:off x="240229" y="1273200"/>
              <a:ext cx="8068590" cy="1569086"/>
            </a:xfrm>
            <a:prstGeom prst="rect">
              <a:avLst/>
            </a:prstGeom>
          </p:spPr>
          <p:txBody>
            <a:bodyPr anchor="t" rtlCol="false" tIns="0" lIns="0" bIns="0" rIns="0">
              <a:spAutoFit/>
            </a:bodyPr>
            <a:lstStyle/>
            <a:p>
              <a:pPr algn="l">
                <a:lnSpc>
                  <a:spcPts val="3412"/>
                </a:lnSpc>
              </a:pPr>
              <a:r>
                <a:rPr lang="en-US" sz="2274" b="true">
                  <a:solidFill>
                    <a:srgbClr val="000000"/>
                  </a:solidFill>
                  <a:latin typeface="Inter Bold"/>
                  <a:ea typeface="Inter Bold"/>
                  <a:cs typeface="Inter Bold"/>
                  <a:sym typeface="Inter Bold"/>
                </a:rPr>
                <a:t>S</a:t>
              </a:r>
              <a:r>
                <a:rPr lang="en-US" sz="2274" b="true">
                  <a:solidFill>
                    <a:srgbClr val="000000"/>
                  </a:solidFill>
                  <a:latin typeface="Inter Bold"/>
                  <a:ea typeface="Inter Bold"/>
                  <a:cs typeface="Inter Bold"/>
                  <a:sym typeface="Inter Bold"/>
                </a:rPr>
                <a:t>ally</a:t>
              </a:r>
            </a:p>
            <a:p>
              <a:pPr algn="l">
                <a:lnSpc>
                  <a:spcPts val="3112"/>
                </a:lnSpc>
              </a:pPr>
              <a:r>
                <a:rPr lang="en-US" sz="2074">
                  <a:solidFill>
                    <a:srgbClr val="0F172A"/>
                  </a:solidFill>
                  <a:latin typeface="Inter"/>
                  <a:ea typeface="Inter"/>
                  <a:cs typeface="Inter"/>
                  <a:sym typeface="Inter"/>
                </a:rPr>
                <a:t>Estimated Portfolio Revenue </a:t>
              </a:r>
              <a:r>
                <a:rPr lang="en-US" sz="2074">
                  <a:solidFill>
                    <a:srgbClr val="10B981"/>
                  </a:solidFill>
                  <a:latin typeface="Inter"/>
                  <a:ea typeface="Inter"/>
                  <a:cs typeface="Inter"/>
                  <a:sym typeface="Inter"/>
                </a:rPr>
                <a:t>$10,187,176</a:t>
              </a:r>
              <a:r>
                <a:rPr lang="en-US" sz="2074">
                  <a:solidFill>
                    <a:srgbClr val="64748B"/>
                  </a:solidFill>
                  <a:latin typeface="Inter"/>
                  <a:ea typeface="Inter"/>
                  <a:cs typeface="Inter"/>
                  <a:sym typeface="Inter"/>
                </a:rPr>
                <a:t> </a:t>
              </a:r>
              <a:r>
                <a:rPr lang="en-US" sz="2074">
                  <a:solidFill>
                    <a:srgbClr val="000000"/>
                  </a:solidFill>
                  <a:latin typeface="Inter"/>
                  <a:ea typeface="Inter"/>
                  <a:cs typeface="Inter"/>
                  <a:sym typeface="Inter"/>
                </a:rPr>
                <a:t>per year</a:t>
              </a:r>
            </a:p>
            <a:p>
              <a:pPr algn="l">
                <a:lnSpc>
                  <a:spcPts val="3112"/>
                </a:lnSpc>
              </a:pPr>
            </a:p>
          </p:txBody>
        </p:sp>
        <p:sp>
          <p:nvSpPr>
            <p:cNvPr name="AutoShape 14" id="14"/>
            <p:cNvSpPr/>
            <p:nvPr/>
          </p:nvSpPr>
          <p:spPr>
            <a:xfrm>
              <a:off x="0" y="12700"/>
              <a:ext cx="8549048" cy="0"/>
            </a:xfrm>
            <a:prstGeom prst="line">
              <a:avLst/>
            </a:prstGeom>
            <a:ln cap="flat" w="25400">
              <a:solidFill>
                <a:srgbClr val="E2E8F0"/>
              </a:solidFill>
              <a:prstDash val="solid"/>
              <a:headEnd type="none" len="sm" w="sm"/>
              <a:tailEnd type="none" len="sm" w="sm"/>
            </a:ln>
          </p:spPr>
        </p:sp>
      </p:gr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58083" y="826334"/>
            <a:ext cx="5020866" cy="619125"/>
          </a:xfrm>
          <a:prstGeom prst="rect">
            <a:avLst/>
          </a:prstGeom>
        </p:spPr>
        <p:txBody>
          <a:bodyPr anchor="t" rtlCol="false" tIns="0" lIns="0" bIns="0" rIns="0">
            <a:spAutoFit/>
          </a:bodyPr>
          <a:lstStyle/>
          <a:p>
            <a:pPr algn="l">
              <a:lnSpc>
                <a:spcPts val="4979"/>
              </a:lnSpc>
            </a:pPr>
            <a:r>
              <a:rPr lang="en-US" sz="4149" b="true">
                <a:solidFill>
                  <a:srgbClr val="0F172A"/>
                </a:solidFill>
                <a:latin typeface="Inter Bold"/>
                <a:ea typeface="Inter Bold"/>
                <a:cs typeface="Inter Bold"/>
                <a:sym typeface="Inter Bold"/>
              </a:rPr>
              <a:t> Customer Behavior</a:t>
            </a:r>
          </a:p>
        </p:txBody>
      </p:sp>
      <p:sp>
        <p:nvSpPr>
          <p:cNvPr name="TextBox 3" id="3"/>
          <p:cNvSpPr txBox="true"/>
          <p:nvPr/>
        </p:nvSpPr>
        <p:spPr>
          <a:xfrm rot="0">
            <a:off x="1047750" y="2702868"/>
            <a:ext cx="11567474" cy="458153"/>
          </a:xfrm>
          <a:prstGeom prst="rect">
            <a:avLst/>
          </a:prstGeom>
        </p:spPr>
        <p:txBody>
          <a:bodyPr anchor="t" rtlCol="false" tIns="0" lIns="0" bIns="0" rIns="0">
            <a:spAutoFit/>
          </a:bodyPr>
          <a:lstStyle/>
          <a:p>
            <a:pPr algn="l">
              <a:lnSpc>
                <a:spcPts val="3712"/>
              </a:lnSpc>
            </a:pPr>
            <a:r>
              <a:rPr lang="en-US" b="true" sz="2474" spc="141">
                <a:solidFill>
                  <a:srgbClr val="64748B"/>
                </a:solidFill>
                <a:latin typeface="Inter Bold"/>
                <a:ea typeface="Inter Bold"/>
                <a:cs typeface="Inter Bold"/>
                <a:sym typeface="Inter Bold"/>
              </a:rPr>
              <a:t>Customer Booking Patterns</a:t>
            </a:r>
          </a:p>
        </p:txBody>
      </p:sp>
      <p:sp>
        <p:nvSpPr>
          <p:cNvPr name="TextBox 4" id="4"/>
          <p:cNvSpPr txBox="true"/>
          <p:nvPr/>
        </p:nvSpPr>
        <p:spPr>
          <a:xfrm rot="0">
            <a:off x="1358083" y="7542362"/>
            <a:ext cx="3733740" cy="476250"/>
          </a:xfrm>
          <a:prstGeom prst="rect">
            <a:avLst/>
          </a:prstGeom>
        </p:spPr>
        <p:txBody>
          <a:bodyPr anchor="t" rtlCol="false" tIns="0" lIns="0" bIns="0" rIns="0">
            <a:spAutoFit/>
          </a:bodyPr>
          <a:lstStyle/>
          <a:p>
            <a:pPr algn="l">
              <a:lnSpc>
                <a:spcPts val="3779"/>
              </a:lnSpc>
            </a:pPr>
            <a:r>
              <a:rPr lang="en-US" sz="3150" b="true">
                <a:solidFill>
                  <a:srgbClr val="2563EB"/>
                </a:solidFill>
                <a:latin typeface="Inter Bold"/>
                <a:ea typeface="Inter Bold"/>
                <a:cs typeface="Inter Bold"/>
                <a:sym typeface="Inter Bold"/>
              </a:rPr>
              <a:t>Business Insight</a:t>
            </a:r>
          </a:p>
        </p:txBody>
      </p:sp>
      <p:sp>
        <p:nvSpPr>
          <p:cNvPr name="TextBox 5" id="5"/>
          <p:cNvSpPr txBox="true"/>
          <p:nvPr/>
        </p:nvSpPr>
        <p:spPr>
          <a:xfrm rot="0">
            <a:off x="1358083" y="8209112"/>
            <a:ext cx="8664263" cy="393719"/>
          </a:xfrm>
          <a:prstGeom prst="rect">
            <a:avLst/>
          </a:prstGeom>
        </p:spPr>
        <p:txBody>
          <a:bodyPr anchor="t" rtlCol="false" tIns="0" lIns="0" bIns="0" rIns="0">
            <a:spAutoFit/>
          </a:bodyPr>
          <a:lstStyle/>
          <a:p>
            <a:pPr algn="l">
              <a:lnSpc>
                <a:spcPts val="3244"/>
              </a:lnSpc>
            </a:pPr>
            <a:r>
              <a:rPr lang="en-US" sz="2162">
                <a:solidFill>
                  <a:srgbClr val="000000"/>
                </a:solidFill>
                <a:latin typeface="Inter"/>
                <a:ea typeface="Inter"/>
                <a:cs typeface="Inter"/>
                <a:sym typeface="Inter"/>
              </a:rPr>
              <a:t>Flexible booking policies encourage higher customer demand.</a:t>
            </a:r>
          </a:p>
        </p:txBody>
      </p:sp>
      <p:sp>
        <p:nvSpPr>
          <p:cNvPr name="AutoShape 6" id="6"/>
          <p:cNvSpPr/>
          <p:nvPr/>
        </p:nvSpPr>
        <p:spPr>
          <a:xfrm flipH="true" flipV="true">
            <a:off x="1047750" y="932340"/>
            <a:ext cx="0" cy="453615"/>
          </a:xfrm>
          <a:prstGeom prst="line">
            <a:avLst/>
          </a:prstGeom>
          <a:ln cap="flat" w="66675">
            <a:solidFill>
              <a:srgbClr val="2563EB"/>
            </a:solidFill>
            <a:prstDash val="solid"/>
            <a:headEnd type="none" len="sm" w="sm"/>
            <a:tailEnd type="none" len="sm" w="sm"/>
          </a:ln>
        </p:spPr>
      </p:sp>
      <p:grpSp>
        <p:nvGrpSpPr>
          <p:cNvPr name="Group 7" id="7"/>
          <p:cNvGrpSpPr/>
          <p:nvPr/>
        </p:nvGrpSpPr>
        <p:grpSpPr>
          <a:xfrm rot="0">
            <a:off x="1028700" y="3418197"/>
            <a:ext cx="16573500" cy="3450607"/>
            <a:chOff x="0" y="0"/>
            <a:chExt cx="22098000" cy="4600809"/>
          </a:xfrm>
        </p:grpSpPr>
        <p:sp>
          <p:nvSpPr>
            <p:cNvPr name="TextBox 8" id="8"/>
            <p:cNvSpPr txBox="true"/>
            <p:nvPr/>
          </p:nvSpPr>
          <p:spPr>
            <a:xfrm rot="0">
              <a:off x="0" y="158750"/>
              <a:ext cx="10591800" cy="624840"/>
            </a:xfrm>
            <a:prstGeom prst="rect">
              <a:avLst/>
            </a:prstGeom>
          </p:spPr>
          <p:txBody>
            <a:bodyPr anchor="t" rtlCol="false" tIns="0" lIns="0" bIns="0" rIns="0">
              <a:spAutoFit/>
            </a:bodyPr>
            <a:lstStyle/>
            <a:p>
              <a:pPr algn="l">
                <a:lnSpc>
                  <a:spcPts val="4050"/>
                </a:lnSpc>
              </a:pPr>
              <a:r>
                <a:rPr lang="en-US" sz="2700" b="true">
                  <a:solidFill>
                    <a:srgbClr val="0F172A"/>
                  </a:solidFill>
                  <a:latin typeface="Inter Bold"/>
                  <a:ea typeface="Inter Bold"/>
                  <a:cs typeface="Inter Bold"/>
                  <a:sym typeface="Inter Bold"/>
                </a:rPr>
                <a:t>Rev</a:t>
              </a:r>
              <a:r>
                <a:rPr lang="en-US" sz="2700" b="true">
                  <a:solidFill>
                    <a:srgbClr val="0F172A"/>
                  </a:solidFill>
                  <a:latin typeface="Inter Bold"/>
                  <a:ea typeface="Inter Bold"/>
                  <a:cs typeface="Inter Bold"/>
                  <a:sym typeface="Inter Bold"/>
                </a:rPr>
                <a:t>iew Analysis</a:t>
              </a:r>
            </a:p>
          </p:txBody>
        </p:sp>
        <p:sp>
          <p:nvSpPr>
            <p:cNvPr name="TextBox 9" id="9"/>
            <p:cNvSpPr txBox="true"/>
            <p:nvPr/>
          </p:nvSpPr>
          <p:spPr>
            <a:xfrm rot="0">
              <a:off x="0" y="1134274"/>
              <a:ext cx="8307832" cy="2850176"/>
            </a:xfrm>
            <a:prstGeom prst="rect">
              <a:avLst/>
            </a:prstGeom>
          </p:spPr>
          <p:txBody>
            <a:bodyPr anchor="t" rtlCol="false" tIns="0" lIns="0" bIns="0" rIns="0">
              <a:spAutoFit/>
            </a:bodyPr>
            <a:lstStyle/>
            <a:p>
              <a:pPr algn="l">
                <a:lnSpc>
                  <a:spcPts val="3485"/>
                </a:lnSpc>
              </a:pPr>
              <a:r>
                <a:rPr lang="en-US" sz="2323">
                  <a:solidFill>
                    <a:srgbClr val="334155"/>
                  </a:solidFill>
                  <a:latin typeface="Inter"/>
                  <a:ea typeface="Inter"/>
                  <a:cs typeface="Inter"/>
                  <a:sym typeface="Inter"/>
                </a:rPr>
                <a:t>Listings with </a:t>
              </a:r>
              <a:r>
                <a:rPr lang="en-US" sz="2323" b="true">
                  <a:solidFill>
                    <a:srgbClr val="334155"/>
                  </a:solidFill>
                  <a:latin typeface="Inter Bold"/>
                  <a:ea typeface="Inter Bold"/>
                  <a:cs typeface="Inter Bold"/>
                  <a:sym typeface="Inter Bold"/>
                </a:rPr>
                <a:t>100+ R</a:t>
              </a:r>
              <a:r>
                <a:rPr lang="en-US" sz="2323" b="true">
                  <a:solidFill>
                    <a:srgbClr val="334155"/>
                  </a:solidFill>
                  <a:latin typeface="Inter Bold"/>
                  <a:ea typeface="Inter Bold"/>
                  <a:cs typeface="Inter Bold"/>
                  <a:sym typeface="Inter Bold"/>
                </a:rPr>
                <a:t>eviews</a:t>
              </a:r>
              <a:r>
                <a:rPr lang="en-US" sz="2323">
                  <a:solidFill>
                    <a:srgbClr val="334155"/>
                  </a:solidFill>
                  <a:latin typeface="Inter"/>
                  <a:ea typeface="Inter"/>
                  <a:cs typeface="Inter"/>
                  <a:sym typeface="Inter"/>
                </a:rPr>
                <a:t> Average </a:t>
              </a:r>
              <a:r>
                <a:rPr lang="en-US" sz="2323" b="true">
                  <a:solidFill>
                    <a:srgbClr val="334155"/>
                  </a:solidFill>
                  <a:latin typeface="Inter Bold"/>
                  <a:ea typeface="Inter Bold"/>
                  <a:cs typeface="Inter Bold"/>
                  <a:sym typeface="Inter Bold"/>
                </a:rPr>
                <a:t>178</a:t>
              </a:r>
              <a:r>
                <a:rPr lang="en-US" sz="2323">
                  <a:solidFill>
                    <a:srgbClr val="334155"/>
                  </a:solidFill>
                  <a:latin typeface="Inter"/>
                  <a:ea typeface="Inter"/>
                  <a:cs typeface="Inter"/>
                  <a:sym typeface="Inter"/>
                </a:rPr>
                <a:t> Available Days.</a:t>
              </a:r>
            </a:p>
            <a:p>
              <a:pPr algn="l">
                <a:lnSpc>
                  <a:spcPts val="3485"/>
                </a:lnSpc>
              </a:pPr>
            </a:p>
            <a:p>
              <a:pPr algn="l">
                <a:lnSpc>
                  <a:spcPts val="3485"/>
                </a:lnSpc>
              </a:pPr>
              <a:r>
                <a:rPr lang="en-US" sz="2323">
                  <a:solidFill>
                    <a:srgbClr val="334155"/>
                  </a:solidFill>
                  <a:latin typeface="Inter"/>
                  <a:ea typeface="Inter"/>
                  <a:cs typeface="Inter"/>
                  <a:sym typeface="Inter"/>
                </a:rPr>
                <a:t>Listings with</a:t>
              </a:r>
              <a:r>
                <a:rPr lang="en-US" sz="2323" b="true">
                  <a:solidFill>
                    <a:srgbClr val="334155"/>
                  </a:solidFill>
                  <a:latin typeface="Inter Bold"/>
                  <a:ea typeface="Inter Bold"/>
                  <a:cs typeface="Inter Bold"/>
                  <a:sym typeface="Inter Bold"/>
                </a:rPr>
                <a:t> No Reviews</a:t>
              </a:r>
              <a:r>
                <a:rPr lang="en-US" sz="2323">
                  <a:solidFill>
                    <a:srgbClr val="334155"/>
                  </a:solidFill>
                  <a:latin typeface="Inter"/>
                  <a:ea typeface="Inter"/>
                  <a:cs typeface="Inter"/>
                  <a:sym typeface="Inter"/>
                </a:rPr>
                <a:t> Average </a:t>
              </a:r>
              <a:r>
                <a:rPr lang="en-US" sz="2323" b="true">
                  <a:solidFill>
                    <a:srgbClr val="334155"/>
                  </a:solidFill>
                  <a:latin typeface="Inter Bold"/>
                  <a:ea typeface="Inter Bold"/>
                  <a:cs typeface="Inter Bold"/>
                  <a:sym typeface="Inter Bold"/>
                </a:rPr>
                <a:t>105</a:t>
              </a:r>
              <a:r>
                <a:rPr lang="en-US" sz="2323">
                  <a:solidFill>
                    <a:srgbClr val="334155"/>
                  </a:solidFill>
                  <a:latin typeface="Inter"/>
                  <a:ea typeface="Inter"/>
                  <a:cs typeface="Inter"/>
                  <a:sym typeface="Inter"/>
                </a:rPr>
                <a:t> Available Days</a:t>
              </a:r>
            </a:p>
          </p:txBody>
        </p:sp>
        <p:sp>
          <p:nvSpPr>
            <p:cNvPr name="AutoShape 10" id="10"/>
            <p:cNvSpPr/>
            <p:nvPr/>
          </p:nvSpPr>
          <p:spPr>
            <a:xfrm>
              <a:off x="0" y="12700"/>
              <a:ext cx="10591800" cy="0"/>
            </a:xfrm>
            <a:prstGeom prst="line">
              <a:avLst/>
            </a:prstGeom>
            <a:ln cap="flat" w="25400">
              <a:solidFill>
                <a:srgbClr val="2563EB"/>
              </a:solidFill>
              <a:prstDash val="solid"/>
              <a:headEnd type="none" len="sm" w="sm"/>
              <a:tailEnd type="none" len="sm" w="sm"/>
            </a:ln>
          </p:spPr>
        </p:sp>
        <p:sp>
          <p:nvSpPr>
            <p:cNvPr name="AutoShape 11" id="11"/>
            <p:cNvSpPr/>
            <p:nvPr/>
          </p:nvSpPr>
          <p:spPr>
            <a:xfrm>
              <a:off x="11506200" y="12700"/>
              <a:ext cx="10134600" cy="0"/>
            </a:xfrm>
            <a:prstGeom prst="line">
              <a:avLst/>
            </a:prstGeom>
            <a:ln cap="flat" w="25400">
              <a:solidFill>
                <a:srgbClr val="2563EB"/>
              </a:solidFill>
              <a:prstDash val="solid"/>
              <a:headEnd type="none" len="sm" w="sm"/>
              <a:tailEnd type="none" len="sm" w="sm"/>
            </a:ln>
          </p:spPr>
        </p:sp>
        <p:sp>
          <p:nvSpPr>
            <p:cNvPr name="TextBox 12" id="12"/>
            <p:cNvSpPr txBox="true"/>
            <p:nvPr/>
          </p:nvSpPr>
          <p:spPr>
            <a:xfrm rot="0">
              <a:off x="11506200" y="171450"/>
              <a:ext cx="10591800" cy="624840"/>
            </a:xfrm>
            <a:prstGeom prst="rect">
              <a:avLst/>
            </a:prstGeom>
          </p:spPr>
          <p:txBody>
            <a:bodyPr anchor="t" rtlCol="false" tIns="0" lIns="0" bIns="0" rIns="0">
              <a:spAutoFit/>
            </a:bodyPr>
            <a:lstStyle/>
            <a:p>
              <a:pPr algn="l">
                <a:lnSpc>
                  <a:spcPts val="4050"/>
                </a:lnSpc>
              </a:pPr>
              <a:r>
                <a:rPr lang="en-US" sz="2700" b="true">
                  <a:solidFill>
                    <a:srgbClr val="0F172A"/>
                  </a:solidFill>
                  <a:latin typeface="Inter Bold"/>
                  <a:ea typeface="Inter Bold"/>
                  <a:cs typeface="Inter Bold"/>
                  <a:sym typeface="Inter Bold"/>
                </a:rPr>
                <a:t>M</a:t>
              </a:r>
              <a:r>
                <a:rPr lang="en-US" sz="2700" b="true">
                  <a:solidFill>
                    <a:srgbClr val="0F172A"/>
                  </a:solidFill>
                  <a:latin typeface="Inter Bold"/>
                  <a:ea typeface="Inter Bold"/>
                  <a:cs typeface="Inter Bold"/>
                  <a:sym typeface="Inter Bold"/>
                </a:rPr>
                <a:t>inimum Stay Analysis</a:t>
              </a:r>
            </a:p>
          </p:txBody>
        </p:sp>
        <p:sp>
          <p:nvSpPr>
            <p:cNvPr name="TextBox 13" id="13"/>
            <p:cNvSpPr txBox="true"/>
            <p:nvPr/>
          </p:nvSpPr>
          <p:spPr>
            <a:xfrm rot="0">
              <a:off x="11506200" y="1146974"/>
              <a:ext cx="10443062" cy="3453835"/>
            </a:xfrm>
            <a:prstGeom prst="rect">
              <a:avLst/>
            </a:prstGeom>
          </p:spPr>
          <p:txBody>
            <a:bodyPr anchor="t" rtlCol="false" tIns="0" lIns="0" bIns="0" rIns="0">
              <a:spAutoFit/>
            </a:bodyPr>
            <a:lstStyle/>
            <a:p>
              <a:pPr algn="l">
                <a:lnSpc>
                  <a:spcPts val="3485"/>
                </a:lnSpc>
              </a:pPr>
              <a:r>
                <a:rPr lang="en-US" sz="2323">
                  <a:solidFill>
                    <a:srgbClr val="334155"/>
                  </a:solidFill>
                  <a:latin typeface="Inter"/>
                  <a:ea typeface="Inter"/>
                  <a:cs typeface="Inter"/>
                  <a:sym typeface="Inter"/>
                </a:rPr>
                <a:t>Listings r</a:t>
              </a:r>
              <a:r>
                <a:rPr lang="en-US" sz="2323">
                  <a:solidFill>
                    <a:srgbClr val="334155"/>
                  </a:solidFill>
                  <a:latin typeface="Inter"/>
                  <a:ea typeface="Inter"/>
                  <a:cs typeface="Inter"/>
                  <a:sym typeface="Inter"/>
                </a:rPr>
                <a:t>e</a:t>
              </a:r>
              <a:r>
                <a:rPr lang="en-US" sz="2323">
                  <a:solidFill>
                    <a:srgbClr val="334155"/>
                  </a:solidFill>
                  <a:latin typeface="Inter"/>
                  <a:ea typeface="Inter"/>
                  <a:cs typeface="Inter"/>
                  <a:sym typeface="Inter"/>
                </a:rPr>
                <a:t>qu</a:t>
              </a:r>
              <a:r>
                <a:rPr lang="en-US" sz="2323">
                  <a:solidFill>
                    <a:srgbClr val="334155"/>
                  </a:solidFill>
                  <a:latin typeface="Inter"/>
                  <a:ea typeface="Inter"/>
                  <a:cs typeface="Inter"/>
                  <a:sym typeface="Inter"/>
                </a:rPr>
                <a:t>i</a:t>
              </a:r>
              <a:r>
                <a:rPr lang="en-US" sz="2323">
                  <a:solidFill>
                    <a:srgbClr val="334155"/>
                  </a:solidFill>
                  <a:latin typeface="Inter"/>
                  <a:ea typeface="Inter"/>
                  <a:cs typeface="Inter"/>
                  <a:sym typeface="Inter"/>
                </a:rPr>
                <a:t>ring</a:t>
              </a:r>
            </a:p>
            <a:p>
              <a:pPr algn="l">
                <a:lnSpc>
                  <a:spcPts val="3485"/>
                </a:lnSpc>
              </a:pPr>
              <a:r>
                <a:rPr lang="en-US" sz="2323" b="true">
                  <a:solidFill>
                    <a:srgbClr val="334155"/>
                  </a:solidFill>
                  <a:latin typeface="Inter Bold"/>
                  <a:ea typeface="Inter Bold"/>
                  <a:cs typeface="Inter Bold"/>
                  <a:sym typeface="Inter Bold"/>
                </a:rPr>
                <a:t>1–3 Night Stay</a:t>
              </a:r>
            </a:p>
            <a:p>
              <a:pPr algn="l">
                <a:lnSpc>
                  <a:spcPts val="3485"/>
                </a:lnSpc>
              </a:pPr>
            </a:p>
            <a:p>
              <a:pPr algn="l">
                <a:lnSpc>
                  <a:spcPts val="3485"/>
                </a:lnSpc>
              </a:pPr>
              <a:r>
                <a:rPr lang="en-US" sz="2323">
                  <a:solidFill>
                    <a:srgbClr val="334155"/>
                  </a:solidFill>
                  <a:latin typeface="Inter"/>
                  <a:ea typeface="Inter"/>
                  <a:cs typeface="Inter"/>
                  <a:sym typeface="Inter"/>
                </a:rPr>
                <a:t>receive significantly</a:t>
              </a:r>
              <a:r>
                <a:rPr lang="en-US" sz="2323">
                  <a:solidFill>
                    <a:srgbClr val="334155"/>
                  </a:solidFill>
                  <a:latin typeface="Inter"/>
                  <a:ea typeface="Inter"/>
                  <a:cs typeface="Inter"/>
                  <a:sym typeface="Inter"/>
                </a:rPr>
                <a:t> </a:t>
              </a:r>
              <a:r>
                <a:rPr lang="en-US" sz="2323">
                  <a:solidFill>
                    <a:srgbClr val="334155"/>
                  </a:solidFill>
                  <a:latin typeface="Inter"/>
                  <a:ea typeface="Inter"/>
                  <a:cs typeface="Inter"/>
                  <a:sym typeface="Inter"/>
                </a:rPr>
                <a:t>m</a:t>
              </a:r>
              <a:r>
                <a:rPr lang="en-US" sz="2323">
                  <a:solidFill>
                    <a:srgbClr val="334155"/>
                  </a:solidFill>
                  <a:latin typeface="Inter"/>
                  <a:ea typeface="Inter"/>
                  <a:cs typeface="Inter"/>
                  <a:sym typeface="Inter"/>
                </a:rPr>
                <a:t>o</a:t>
              </a:r>
              <a:r>
                <a:rPr lang="en-US" sz="2323">
                  <a:solidFill>
                    <a:srgbClr val="334155"/>
                  </a:solidFill>
                  <a:latin typeface="Inter"/>
                  <a:ea typeface="Inter"/>
                  <a:cs typeface="Inter"/>
                  <a:sym typeface="Inter"/>
                </a:rPr>
                <a:t>re</a:t>
              </a:r>
              <a:r>
                <a:rPr lang="en-US" sz="2323">
                  <a:solidFill>
                    <a:srgbClr val="334155"/>
                  </a:solidFill>
                  <a:latin typeface="Inter"/>
                  <a:ea typeface="Inter"/>
                  <a:cs typeface="Inter"/>
                  <a:sym typeface="Inter"/>
                </a:rPr>
                <a:t> </a:t>
              </a:r>
              <a:r>
                <a:rPr lang="en-US" sz="2323">
                  <a:solidFill>
                    <a:srgbClr val="334155"/>
                  </a:solidFill>
                  <a:latin typeface="Inter"/>
                  <a:ea typeface="Inter"/>
                  <a:cs typeface="Inter"/>
                  <a:sym typeface="Inter"/>
                </a:rPr>
                <a:t>r</a:t>
              </a:r>
              <a:r>
                <a:rPr lang="en-US" sz="2323">
                  <a:solidFill>
                    <a:srgbClr val="334155"/>
                  </a:solidFill>
                  <a:latin typeface="Inter"/>
                  <a:ea typeface="Inter"/>
                  <a:cs typeface="Inter"/>
                  <a:sym typeface="Inter"/>
                </a:rPr>
                <a:t>eviews</a:t>
              </a:r>
              <a:r>
                <a:rPr lang="en-US" sz="2323">
                  <a:solidFill>
                    <a:srgbClr val="334155"/>
                  </a:solidFill>
                  <a:latin typeface="Inter"/>
                  <a:ea typeface="Inter"/>
                  <a:cs typeface="Inter"/>
                  <a:sym typeface="Inter"/>
                </a:rPr>
                <a:t> than listings requiring </a:t>
              </a:r>
              <a:r>
                <a:rPr lang="en-US" sz="2323" b="true">
                  <a:solidFill>
                    <a:srgbClr val="334155"/>
                  </a:solidFill>
                  <a:latin typeface="Inter Bold"/>
                  <a:ea typeface="Inter Bold"/>
                  <a:cs typeface="Inter Bold"/>
                  <a:sym typeface="Inter Bold"/>
                </a:rPr>
                <a:t>7+ nights.</a:t>
              </a:r>
            </a:p>
            <a:p>
              <a:pPr algn="l">
                <a:lnSpc>
                  <a:spcPts val="3485"/>
                </a:lnSpc>
              </a:pPr>
            </a:p>
          </p:txBody>
        </p:sp>
        <p:sp>
          <p:nvSpPr>
            <p:cNvPr name="AutoShape 14" id="14"/>
            <p:cNvSpPr/>
            <p:nvPr/>
          </p:nvSpPr>
          <p:spPr>
            <a:xfrm>
              <a:off x="11506200" y="25400"/>
              <a:ext cx="10591800" cy="0"/>
            </a:xfrm>
            <a:prstGeom prst="line">
              <a:avLst/>
            </a:prstGeom>
            <a:ln cap="flat" w="25400">
              <a:solidFill>
                <a:srgbClr val="2563EB"/>
              </a:solidFill>
              <a:prstDash val="solid"/>
              <a:headEnd type="none" len="sm" w="sm"/>
              <a:tailEnd type="none" len="sm" w="sm"/>
            </a:ln>
          </p:spPr>
        </p:sp>
      </p:gr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35699" y="819150"/>
            <a:ext cx="5431532" cy="619125"/>
          </a:xfrm>
          <a:prstGeom prst="rect">
            <a:avLst/>
          </a:prstGeom>
        </p:spPr>
        <p:txBody>
          <a:bodyPr anchor="t" rtlCol="false" tIns="0" lIns="0" bIns="0" rIns="0">
            <a:spAutoFit/>
          </a:bodyPr>
          <a:lstStyle/>
          <a:p>
            <a:pPr algn="l">
              <a:lnSpc>
                <a:spcPts val="4979"/>
              </a:lnSpc>
            </a:pPr>
            <a:r>
              <a:rPr lang="en-US" sz="4149" b="true">
                <a:solidFill>
                  <a:srgbClr val="0F172A"/>
                </a:solidFill>
                <a:latin typeface="Inter Bold"/>
                <a:ea typeface="Inter Bold"/>
                <a:cs typeface="Inter Bold"/>
                <a:sym typeface="Inter Bold"/>
              </a:rPr>
              <a:t>Ma</a:t>
            </a:r>
            <a:r>
              <a:rPr lang="en-US" sz="4149" b="true">
                <a:solidFill>
                  <a:srgbClr val="0F172A"/>
                </a:solidFill>
                <a:latin typeface="Inter Bold"/>
                <a:ea typeface="Inter Bold"/>
                <a:cs typeface="Inter Bold"/>
                <a:sym typeface="Inter Bold"/>
              </a:rPr>
              <a:t>rket Opportunities</a:t>
            </a:r>
          </a:p>
        </p:txBody>
      </p:sp>
      <p:sp>
        <p:nvSpPr>
          <p:cNvPr name="TextBox 3" id="3"/>
          <p:cNvSpPr txBox="true"/>
          <p:nvPr/>
        </p:nvSpPr>
        <p:spPr>
          <a:xfrm rot="0">
            <a:off x="1028700" y="2469531"/>
            <a:ext cx="5332016" cy="466725"/>
          </a:xfrm>
          <a:prstGeom prst="rect">
            <a:avLst/>
          </a:prstGeom>
        </p:spPr>
        <p:txBody>
          <a:bodyPr anchor="t" rtlCol="false" tIns="0" lIns="0" bIns="0" rIns="0">
            <a:spAutoFit/>
          </a:bodyPr>
          <a:lstStyle/>
          <a:p>
            <a:pPr algn="l">
              <a:lnSpc>
                <a:spcPts val="3899"/>
              </a:lnSpc>
            </a:pPr>
            <a:r>
              <a:rPr lang="en-US" sz="2999" b="true">
                <a:solidFill>
                  <a:srgbClr val="0F172A"/>
                </a:solidFill>
                <a:latin typeface="Inter Bold"/>
                <a:ea typeface="Inter Bold"/>
                <a:cs typeface="Inter Bold"/>
                <a:sym typeface="Inter Bold"/>
              </a:rPr>
              <a:t>Und</a:t>
            </a:r>
            <a:r>
              <a:rPr lang="en-US" sz="2999" b="true">
                <a:solidFill>
                  <a:srgbClr val="0F172A"/>
                </a:solidFill>
                <a:latin typeface="Inter Bold"/>
                <a:ea typeface="Inter Bold"/>
                <a:cs typeface="Inter Bold"/>
                <a:sym typeface="Inter Bold"/>
              </a:rPr>
              <a:t>erserved Neighborhoods</a:t>
            </a:r>
          </a:p>
        </p:txBody>
      </p:sp>
      <p:sp>
        <p:nvSpPr>
          <p:cNvPr name="TextBox 4" id="4"/>
          <p:cNvSpPr txBox="true"/>
          <p:nvPr/>
        </p:nvSpPr>
        <p:spPr>
          <a:xfrm rot="0">
            <a:off x="1028700" y="3019904"/>
            <a:ext cx="15850017" cy="435611"/>
          </a:xfrm>
          <a:prstGeom prst="rect">
            <a:avLst/>
          </a:prstGeom>
        </p:spPr>
        <p:txBody>
          <a:bodyPr anchor="t" rtlCol="false" tIns="0" lIns="0" bIns="0" rIns="0">
            <a:spAutoFit/>
          </a:bodyPr>
          <a:lstStyle/>
          <a:p>
            <a:pPr algn="l">
              <a:lnSpc>
                <a:spcPts val="3679"/>
              </a:lnSpc>
            </a:pPr>
            <a:r>
              <a:rPr lang="en-US" sz="2299">
                <a:solidFill>
                  <a:srgbClr val="0F172A"/>
                </a:solidFill>
                <a:latin typeface="Inter"/>
                <a:ea typeface="Inter"/>
                <a:cs typeface="Inter"/>
                <a:sym typeface="Inter"/>
              </a:rPr>
              <a:t>Sev</a:t>
            </a:r>
            <a:r>
              <a:rPr lang="en-US" sz="2299">
                <a:solidFill>
                  <a:srgbClr val="0F172A"/>
                </a:solidFill>
                <a:latin typeface="Inter"/>
                <a:ea typeface="Inter"/>
                <a:cs typeface="Inter"/>
                <a:sym typeface="Inter"/>
              </a:rPr>
              <a:t>eral neighborhoods have relatively few listings while maintaining premium prices.</a:t>
            </a:r>
          </a:p>
        </p:txBody>
      </p:sp>
      <p:grpSp>
        <p:nvGrpSpPr>
          <p:cNvPr name="Group 5" id="5"/>
          <p:cNvGrpSpPr/>
          <p:nvPr/>
        </p:nvGrpSpPr>
        <p:grpSpPr>
          <a:xfrm rot="0">
            <a:off x="1398555" y="4381908"/>
            <a:ext cx="4019364" cy="2636658"/>
            <a:chOff x="0" y="0"/>
            <a:chExt cx="5359152" cy="3515544"/>
          </a:xfrm>
        </p:grpSpPr>
        <p:sp>
          <p:nvSpPr>
            <p:cNvPr name="TextBox 6" id="6"/>
            <p:cNvSpPr txBox="true"/>
            <p:nvPr/>
          </p:nvSpPr>
          <p:spPr>
            <a:xfrm rot="0">
              <a:off x="0" y="-57150"/>
              <a:ext cx="5359152" cy="599864"/>
            </a:xfrm>
            <a:prstGeom prst="rect">
              <a:avLst/>
            </a:prstGeom>
          </p:spPr>
          <p:txBody>
            <a:bodyPr anchor="t" rtlCol="false" tIns="0" lIns="0" bIns="0" rIns="0">
              <a:spAutoFit/>
            </a:bodyPr>
            <a:lstStyle/>
            <a:p>
              <a:pPr algn="l">
                <a:lnSpc>
                  <a:spcPts val="3814"/>
                </a:lnSpc>
              </a:pPr>
              <a:r>
                <a:rPr lang="en-US" sz="2724" b="true">
                  <a:solidFill>
                    <a:srgbClr val="000000"/>
                  </a:solidFill>
                  <a:latin typeface="Inter Bold"/>
                  <a:ea typeface="Inter Bold"/>
                  <a:cs typeface="Inter Bold"/>
                  <a:sym typeface="Inter Bold"/>
                </a:rPr>
                <a:t>H</a:t>
              </a:r>
              <a:r>
                <a:rPr lang="en-US" sz="2724" b="true">
                  <a:solidFill>
                    <a:srgbClr val="000000"/>
                  </a:solidFill>
                  <a:latin typeface="Inter Bold"/>
                  <a:ea typeface="Inter Bold"/>
                  <a:cs typeface="Inter Bold"/>
                  <a:sym typeface="Inter Bold"/>
                </a:rPr>
                <a:t>igh-Potential Areas</a:t>
              </a:r>
            </a:p>
          </p:txBody>
        </p:sp>
        <p:sp>
          <p:nvSpPr>
            <p:cNvPr name="TextBox 7" id="7"/>
            <p:cNvSpPr txBox="true"/>
            <p:nvPr/>
          </p:nvSpPr>
          <p:spPr>
            <a:xfrm rot="0">
              <a:off x="0" y="706938"/>
              <a:ext cx="4495195" cy="2808606"/>
            </a:xfrm>
            <a:prstGeom prst="rect">
              <a:avLst/>
            </a:prstGeom>
          </p:spPr>
          <p:txBody>
            <a:bodyPr anchor="t" rtlCol="false" tIns="0" lIns="0" bIns="0" rIns="0">
              <a:spAutoFit/>
            </a:bodyPr>
            <a:lstStyle/>
            <a:p>
              <a:pPr algn="l" marL="491169" indent="-245584" lvl="1">
                <a:lnSpc>
                  <a:spcPts val="3412"/>
                </a:lnSpc>
                <a:buFont typeface="Arial"/>
                <a:buChar char="•"/>
              </a:pPr>
              <a:r>
                <a:rPr lang="en-US" b="true" sz="2274">
                  <a:solidFill>
                    <a:srgbClr val="334155"/>
                  </a:solidFill>
                  <a:latin typeface="Inter Bold"/>
                  <a:ea typeface="Inter Bold"/>
                  <a:cs typeface="Inter Bold"/>
                  <a:sym typeface="Inter Bold"/>
                </a:rPr>
                <a:t>DUMB</a:t>
              </a:r>
              <a:r>
                <a:rPr lang="en-US" b="true" sz="2274">
                  <a:solidFill>
                    <a:srgbClr val="334155"/>
                  </a:solidFill>
                  <a:latin typeface="Inter Bold"/>
                  <a:ea typeface="Inter Bold"/>
                  <a:cs typeface="Inter Bold"/>
                  <a:sym typeface="Inter Bold"/>
                </a:rPr>
                <a:t>O</a:t>
              </a:r>
            </a:p>
            <a:p>
              <a:pPr algn="l" marL="491169" indent="-245584" lvl="1">
                <a:lnSpc>
                  <a:spcPts val="3412"/>
                </a:lnSpc>
                <a:buFont typeface="Arial"/>
                <a:buChar char="•"/>
              </a:pPr>
              <a:r>
                <a:rPr lang="en-US" b="true" sz="2274">
                  <a:solidFill>
                    <a:srgbClr val="334155"/>
                  </a:solidFill>
                  <a:latin typeface="Inter Bold"/>
                  <a:ea typeface="Inter Bold"/>
                  <a:cs typeface="Inter Bold"/>
                  <a:sym typeface="Inter Bold"/>
                </a:rPr>
                <a:t>Vinegar Hill</a:t>
              </a:r>
            </a:p>
            <a:p>
              <a:pPr algn="l" marL="491169" indent="-245584" lvl="1">
                <a:lnSpc>
                  <a:spcPts val="3412"/>
                </a:lnSpc>
                <a:buFont typeface="Arial"/>
                <a:buChar char="•"/>
              </a:pPr>
              <a:r>
                <a:rPr lang="en-US" b="true" sz="2274">
                  <a:solidFill>
                    <a:srgbClr val="334155"/>
                  </a:solidFill>
                  <a:latin typeface="Inter Bold"/>
                  <a:ea typeface="Inter Bold"/>
                  <a:cs typeface="Inter Bold"/>
                  <a:sym typeface="Inter Bold"/>
                </a:rPr>
                <a:t>Jamaica Estates</a:t>
              </a:r>
            </a:p>
            <a:p>
              <a:pPr algn="l" marL="491169" indent="-245584" lvl="1">
                <a:lnSpc>
                  <a:spcPts val="3412"/>
                </a:lnSpc>
                <a:buFont typeface="Arial"/>
                <a:buChar char="•"/>
              </a:pPr>
              <a:r>
                <a:rPr lang="en-US" b="true" sz="2274">
                  <a:solidFill>
                    <a:srgbClr val="334155"/>
                  </a:solidFill>
                  <a:latin typeface="Inter Bold"/>
                  <a:ea typeface="Inter Bold"/>
                  <a:cs typeface="Inter Bold"/>
                  <a:sym typeface="Inter Bold"/>
                </a:rPr>
                <a:t>City Island</a:t>
              </a:r>
            </a:p>
            <a:p>
              <a:pPr algn="l">
                <a:lnSpc>
                  <a:spcPts val="3412"/>
                </a:lnSpc>
              </a:pPr>
            </a:p>
          </p:txBody>
        </p:sp>
      </p:grpSp>
      <p:grpSp>
        <p:nvGrpSpPr>
          <p:cNvPr name="Group 8" id="8"/>
          <p:cNvGrpSpPr/>
          <p:nvPr/>
        </p:nvGrpSpPr>
        <p:grpSpPr>
          <a:xfrm rot="0">
            <a:off x="7871810" y="4381908"/>
            <a:ext cx="7306092" cy="2636658"/>
            <a:chOff x="0" y="0"/>
            <a:chExt cx="9741455" cy="3515544"/>
          </a:xfrm>
        </p:grpSpPr>
        <p:sp>
          <p:nvSpPr>
            <p:cNvPr name="TextBox 9" id="9"/>
            <p:cNvSpPr txBox="true"/>
            <p:nvPr/>
          </p:nvSpPr>
          <p:spPr>
            <a:xfrm rot="0">
              <a:off x="0" y="-57150"/>
              <a:ext cx="9741455" cy="599864"/>
            </a:xfrm>
            <a:prstGeom prst="rect">
              <a:avLst/>
            </a:prstGeom>
          </p:spPr>
          <p:txBody>
            <a:bodyPr anchor="t" rtlCol="false" tIns="0" lIns="0" bIns="0" rIns="0">
              <a:spAutoFit/>
            </a:bodyPr>
            <a:lstStyle/>
            <a:p>
              <a:pPr algn="l">
                <a:lnSpc>
                  <a:spcPts val="3814"/>
                </a:lnSpc>
              </a:pPr>
              <a:r>
                <a:rPr lang="en-US" sz="2724" b="true">
                  <a:solidFill>
                    <a:srgbClr val="000000"/>
                  </a:solidFill>
                  <a:latin typeface="Inter Bold"/>
                  <a:ea typeface="Inter Bold"/>
                  <a:cs typeface="Inter Bold"/>
                  <a:sym typeface="Inter Bold"/>
                </a:rPr>
                <a:t>Why</a:t>
              </a:r>
              <a:r>
                <a:rPr lang="en-US" sz="2724" b="true">
                  <a:solidFill>
                    <a:srgbClr val="000000"/>
                  </a:solidFill>
                  <a:latin typeface="Inter Bold"/>
                  <a:ea typeface="Inter Bold"/>
                  <a:cs typeface="Inter Bold"/>
                  <a:sym typeface="Inter Bold"/>
                </a:rPr>
                <a:t> These Markets?</a:t>
              </a:r>
            </a:p>
          </p:txBody>
        </p:sp>
        <p:sp>
          <p:nvSpPr>
            <p:cNvPr name="TextBox 10" id="10"/>
            <p:cNvSpPr txBox="true"/>
            <p:nvPr/>
          </p:nvSpPr>
          <p:spPr>
            <a:xfrm rot="0">
              <a:off x="0" y="706938"/>
              <a:ext cx="9127311" cy="2808606"/>
            </a:xfrm>
            <a:prstGeom prst="rect">
              <a:avLst/>
            </a:prstGeom>
          </p:spPr>
          <p:txBody>
            <a:bodyPr anchor="t" rtlCol="false" tIns="0" lIns="0" bIns="0" rIns="0">
              <a:spAutoFit/>
            </a:bodyPr>
            <a:lstStyle/>
            <a:p>
              <a:pPr algn="l" marL="491169" indent="-245584" lvl="1">
                <a:lnSpc>
                  <a:spcPts val="3412"/>
                </a:lnSpc>
                <a:buFont typeface="Arial"/>
                <a:buChar char="•"/>
              </a:pPr>
              <a:r>
                <a:rPr lang="en-US" b="true" sz="2274">
                  <a:solidFill>
                    <a:srgbClr val="334155"/>
                  </a:solidFill>
                  <a:latin typeface="Inter Bold"/>
                  <a:ea typeface="Inter Bold"/>
                  <a:cs typeface="Inter Bold"/>
                  <a:sym typeface="Inter Bold"/>
                </a:rPr>
                <a:t>Lo</a:t>
              </a:r>
              <a:r>
                <a:rPr lang="en-US" b="true" sz="2274">
                  <a:solidFill>
                    <a:srgbClr val="334155"/>
                  </a:solidFill>
                  <a:latin typeface="Inter Bold"/>
                  <a:ea typeface="Inter Bold"/>
                  <a:cs typeface="Inter Bold"/>
                  <a:sym typeface="Inter Bold"/>
                </a:rPr>
                <a:t>w Competition</a:t>
              </a:r>
            </a:p>
            <a:p>
              <a:pPr algn="l" marL="491169" indent="-245584" lvl="1">
                <a:lnSpc>
                  <a:spcPts val="3412"/>
                </a:lnSpc>
                <a:buFont typeface="Arial"/>
                <a:buChar char="•"/>
              </a:pPr>
              <a:r>
                <a:rPr lang="en-US" b="true" sz="2274">
                  <a:solidFill>
                    <a:srgbClr val="334155"/>
                  </a:solidFill>
                  <a:latin typeface="Inter Bold"/>
                  <a:ea typeface="Inter Bold"/>
                  <a:cs typeface="Inter Bold"/>
                  <a:sym typeface="Inter Bold"/>
                </a:rPr>
                <a:t>High Nightly Prices</a:t>
              </a:r>
            </a:p>
            <a:p>
              <a:pPr algn="l" marL="491169" indent="-245584" lvl="1">
                <a:lnSpc>
                  <a:spcPts val="3412"/>
                </a:lnSpc>
                <a:buFont typeface="Arial"/>
                <a:buChar char="•"/>
              </a:pPr>
              <a:r>
                <a:rPr lang="en-US" b="true" sz="2274">
                  <a:solidFill>
                    <a:srgbClr val="334155"/>
                  </a:solidFill>
                  <a:latin typeface="Inter Bold"/>
                  <a:ea typeface="Inter Bold"/>
                  <a:cs typeface="Inter Bold"/>
                  <a:sym typeface="Inter Bold"/>
                </a:rPr>
                <a:t>Strong Demand</a:t>
              </a:r>
            </a:p>
            <a:p>
              <a:pPr algn="l" marL="491169" indent="-245584" lvl="1">
                <a:lnSpc>
                  <a:spcPts val="3412"/>
                </a:lnSpc>
                <a:buFont typeface="Arial"/>
                <a:buChar char="•"/>
              </a:pPr>
              <a:r>
                <a:rPr lang="en-US" b="true" sz="2274">
                  <a:solidFill>
                    <a:srgbClr val="334155"/>
                  </a:solidFill>
                  <a:latin typeface="Inter Bold"/>
                  <a:ea typeface="Inter Bold"/>
                  <a:cs typeface="Inter Bold"/>
                  <a:sym typeface="Inter Bold"/>
                </a:rPr>
                <a:t>Opportunity for New Hosts</a:t>
              </a:r>
            </a:p>
            <a:p>
              <a:pPr algn="l">
                <a:lnSpc>
                  <a:spcPts val="3412"/>
                </a:lnSpc>
              </a:pPr>
            </a:p>
          </p:txBody>
        </p:sp>
      </p:grpSp>
      <p:grpSp>
        <p:nvGrpSpPr>
          <p:cNvPr name="Group 11" id="11"/>
          <p:cNvGrpSpPr/>
          <p:nvPr/>
        </p:nvGrpSpPr>
        <p:grpSpPr>
          <a:xfrm rot="0">
            <a:off x="1701225" y="8134957"/>
            <a:ext cx="13476676" cy="690563"/>
            <a:chOff x="0" y="0"/>
            <a:chExt cx="17968901" cy="920751"/>
          </a:xfrm>
        </p:grpSpPr>
        <p:sp>
          <p:nvSpPr>
            <p:cNvPr name="TextBox 12" id="12"/>
            <p:cNvSpPr txBox="true"/>
            <p:nvPr/>
          </p:nvSpPr>
          <p:spPr>
            <a:xfrm rot="0">
              <a:off x="23427" y="-66675"/>
              <a:ext cx="8961024" cy="522606"/>
            </a:xfrm>
            <a:prstGeom prst="rect">
              <a:avLst/>
            </a:prstGeom>
          </p:spPr>
          <p:txBody>
            <a:bodyPr anchor="t" rtlCol="false" tIns="0" lIns="0" bIns="0" rIns="0">
              <a:spAutoFit/>
            </a:bodyPr>
            <a:lstStyle/>
            <a:p>
              <a:pPr algn="l">
                <a:lnSpc>
                  <a:spcPts val="3412"/>
                </a:lnSpc>
              </a:pPr>
              <a:r>
                <a:rPr lang="en-US" b="true" sz="2274" spc="194">
                  <a:solidFill>
                    <a:srgbClr val="2563EB"/>
                  </a:solidFill>
                  <a:latin typeface="Inter Bold"/>
                  <a:ea typeface="Inter Bold"/>
                  <a:cs typeface="Inter Bold"/>
                  <a:sym typeface="Inter Bold"/>
                </a:rPr>
                <a:t>Business</a:t>
              </a:r>
              <a:r>
                <a:rPr lang="en-US" b="true" sz="2274" spc="194">
                  <a:solidFill>
                    <a:srgbClr val="2563EB"/>
                  </a:solidFill>
                  <a:latin typeface="Inter Bold"/>
                  <a:ea typeface="Inter Bold"/>
                  <a:cs typeface="Inter Bold"/>
                  <a:sym typeface="Inter Bold"/>
                </a:rPr>
                <a:t> Insight</a:t>
              </a:r>
            </a:p>
          </p:txBody>
        </p:sp>
        <p:sp>
          <p:nvSpPr>
            <p:cNvPr name="TextBox 13" id="13"/>
            <p:cNvSpPr txBox="true"/>
            <p:nvPr/>
          </p:nvSpPr>
          <p:spPr>
            <a:xfrm rot="0">
              <a:off x="0" y="379731"/>
              <a:ext cx="17968901" cy="541020"/>
            </a:xfrm>
            <a:prstGeom prst="rect">
              <a:avLst/>
            </a:prstGeom>
          </p:spPr>
          <p:txBody>
            <a:bodyPr anchor="t" rtlCol="false" tIns="0" lIns="0" bIns="0" rIns="0">
              <a:spAutoFit/>
            </a:bodyPr>
            <a:lstStyle/>
            <a:p>
              <a:pPr algn="l">
                <a:lnSpc>
                  <a:spcPts val="3524"/>
                </a:lnSpc>
              </a:pPr>
              <a:r>
                <a:rPr lang="en-US" sz="2349">
                  <a:solidFill>
                    <a:srgbClr val="0F172A"/>
                  </a:solidFill>
                  <a:latin typeface="Inter"/>
                  <a:ea typeface="Inter"/>
                  <a:cs typeface="Inter"/>
                  <a:sym typeface="Inter"/>
                </a:rPr>
                <a:t>H</a:t>
              </a:r>
              <a:r>
                <a:rPr lang="en-US" sz="2349">
                  <a:solidFill>
                    <a:srgbClr val="0F172A"/>
                  </a:solidFill>
                  <a:latin typeface="Inter"/>
                  <a:ea typeface="Inter"/>
                  <a:cs typeface="Inter"/>
                  <a:sym typeface="Inter"/>
                </a:rPr>
                <a:t>osts entering underserved neighborhoods can achieve premium pricing with less competition.</a:t>
              </a:r>
            </a:p>
          </p:txBody>
        </p:sp>
      </p:grpSp>
      <p:sp>
        <p:nvSpPr>
          <p:cNvPr name="AutoShape 14" id="14"/>
          <p:cNvSpPr/>
          <p:nvPr/>
        </p:nvSpPr>
        <p:spPr>
          <a:xfrm flipH="true" flipV="true">
            <a:off x="1047750" y="932340"/>
            <a:ext cx="0" cy="453615"/>
          </a:xfrm>
          <a:prstGeom prst="line">
            <a:avLst/>
          </a:prstGeom>
          <a:ln cap="flat" w="66675">
            <a:solidFill>
              <a:srgbClr val="2563EB"/>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88099" y="971550"/>
            <a:ext cx="5431532" cy="619125"/>
          </a:xfrm>
          <a:prstGeom prst="rect">
            <a:avLst/>
          </a:prstGeom>
        </p:spPr>
        <p:txBody>
          <a:bodyPr anchor="t" rtlCol="false" tIns="0" lIns="0" bIns="0" rIns="0">
            <a:spAutoFit/>
          </a:bodyPr>
          <a:lstStyle/>
          <a:p>
            <a:pPr algn="l">
              <a:lnSpc>
                <a:spcPts val="4979"/>
              </a:lnSpc>
            </a:pPr>
            <a:r>
              <a:rPr lang="en-US" sz="4149" b="true">
                <a:solidFill>
                  <a:srgbClr val="0F172A"/>
                </a:solidFill>
                <a:latin typeface="Inter Bold"/>
                <a:ea typeface="Inter Bold"/>
                <a:cs typeface="Inter Bold"/>
                <a:sym typeface="Inter Bold"/>
              </a:rPr>
              <a:t>Ma</a:t>
            </a:r>
            <a:r>
              <a:rPr lang="en-US" sz="4149" b="true">
                <a:solidFill>
                  <a:srgbClr val="0F172A"/>
                </a:solidFill>
                <a:latin typeface="Inter Bold"/>
                <a:ea typeface="Inter Bold"/>
                <a:cs typeface="Inter Bold"/>
                <a:sym typeface="Inter Bold"/>
              </a:rPr>
              <a:t>rket Opportunities</a:t>
            </a:r>
          </a:p>
        </p:txBody>
      </p:sp>
      <p:sp>
        <p:nvSpPr>
          <p:cNvPr name="AutoShape 3" id="3"/>
          <p:cNvSpPr/>
          <p:nvPr/>
        </p:nvSpPr>
        <p:spPr>
          <a:xfrm flipH="true" flipV="true">
            <a:off x="1200150" y="1084740"/>
            <a:ext cx="0" cy="453615"/>
          </a:xfrm>
          <a:prstGeom prst="line">
            <a:avLst/>
          </a:prstGeom>
          <a:ln cap="flat" w="66675">
            <a:solidFill>
              <a:srgbClr val="2563EB"/>
            </a:solidFill>
            <a:prstDash val="solid"/>
            <a:headEnd type="none" len="sm" w="sm"/>
            <a:tailEnd type="none" len="sm" w="sm"/>
          </a:ln>
        </p:spPr>
      </p:sp>
      <p:sp>
        <p:nvSpPr>
          <p:cNvPr name="TextBox 4" id="4"/>
          <p:cNvSpPr txBox="true"/>
          <p:nvPr/>
        </p:nvSpPr>
        <p:spPr>
          <a:xfrm rot="0">
            <a:off x="1388099" y="2929911"/>
            <a:ext cx="7047136" cy="466725"/>
          </a:xfrm>
          <a:prstGeom prst="rect">
            <a:avLst/>
          </a:prstGeom>
        </p:spPr>
        <p:txBody>
          <a:bodyPr anchor="t" rtlCol="false" tIns="0" lIns="0" bIns="0" rIns="0">
            <a:spAutoFit/>
          </a:bodyPr>
          <a:lstStyle/>
          <a:p>
            <a:pPr algn="l">
              <a:lnSpc>
                <a:spcPts val="3899"/>
              </a:lnSpc>
            </a:pPr>
            <a:r>
              <a:rPr lang="en-US" sz="2999" b="true">
                <a:solidFill>
                  <a:srgbClr val="0F172A"/>
                </a:solidFill>
                <a:latin typeface="Inter Bold"/>
                <a:ea typeface="Inter Bold"/>
                <a:cs typeface="Inter Bold"/>
                <a:sym typeface="Inter Bold"/>
              </a:rPr>
              <a:t>Int</a:t>
            </a:r>
            <a:r>
              <a:rPr lang="en-US" sz="2999" b="true">
                <a:solidFill>
                  <a:srgbClr val="0F172A"/>
                </a:solidFill>
                <a:latin typeface="Inter Bold"/>
                <a:ea typeface="Inter Bold"/>
                <a:cs typeface="Inter Bold"/>
                <a:sym typeface="Inter Bold"/>
              </a:rPr>
              <a:t>eractive Power BI Dashboard</a:t>
            </a:r>
          </a:p>
        </p:txBody>
      </p:sp>
      <p:sp>
        <p:nvSpPr>
          <p:cNvPr name="TextBox 5" id="5"/>
          <p:cNvSpPr txBox="true"/>
          <p:nvPr/>
        </p:nvSpPr>
        <p:spPr>
          <a:xfrm rot="0">
            <a:off x="1388099" y="3534748"/>
            <a:ext cx="7477741" cy="4169411"/>
          </a:xfrm>
          <a:prstGeom prst="rect">
            <a:avLst/>
          </a:prstGeom>
        </p:spPr>
        <p:txBody>
          <a:bodyPr anchor="t" rtlCol="false" tIns="0" lIns="0" bIns="0" rIns="0">
            <a:spAutoFit/>
          </a:bodyPr>
          <a:lstStyle/>
          <a:p>
            <a:pPr algn="l">
              <a:lnSpc>
                <a:spcPts val="3679"/>
              </a:lnSpc>
            </a:pPr>
            <a:r>
              <a:rPr lang="en-US" sz="2299">
                <a:solidFill>
                  <a:srgbClr val="0F172A"/>
                </a:solidFill>
                <a:latin typeface="Inter"/>
                <a:ea typeface="Inter"/>
                <a:cs typeface="Inter"/>
                <a:sym typeface="Inter"/>
              </a:rPr>
              <a:t>Th</a:t>
            </a:r>
            <a:r>
              <a:rPr lang="en-US" sz="2299">
                <a:solidFill>
                  <a:srgbClr val="0F172A"/>
                </a:solidFill>
                <a:latin typeface="Inter"/>
                <a:ea typeface="Inter"/>
                <a:cs typeface="Inter"/>
                <a:sym typeface="Inter"/>
              </a:rPr>
              <a:t>e dashboard enables stakeholders to explore:</a:t>
            </a:r>
          </a:p>
          <a:p>
            <a:pPr algn="l" marL="496567" indent="-248284" lvl="1">
              <a:lnSpc>
                <a:spcPts val="3679"/>
              </a:lnSpc>
              <a:buFont typeface="Arial"/>
              <a:buChar char="•"/>
            </a:pPr>
            <a:r>
              <a:rPr lang="en-US" sz="2299">
                <a:solidFill>
                  <a:srgbClr val="0F172A"/>
                </a:solidFill>
                <a:latin typeface="Inter"/>
                <a:ea typeface="Inter"/>
                <a:cs typeface="Inter"/>
                <a:sym typeface="Inter"/>
              </a:rPr>
              <a:t>Revenue Performance</a:t>
            </a:r>
          </a:p>
          <a:p>
            <a:pPr algn="l" marL="496567" indent="-248284" lvl="1">
              <a:lnSpc>
                <a:spcPts val="3679"/>
              </a:lnSpc>
              <a:buFont typeface="Arial"/>
              <a:buChar char="•"/>
            </a:pPr>
            <a:r>
              <a:rPr lang="en-US" sz="2299">
                <a:solidFill>
                  <a:srgbClr val="0F172A"/>
                </a:solidFill>
                <a:latin typeface="Inter"/>
                <a:ea typeface="Inter"/>
                <a:cs typeface="Inter"/>
                <a:sym typeface="Inter"/>
              </a:rPr>
              <a:t>Pricing Analysis</a:t>
            </a:r>
          </a:p>
          <a:p>
            <a:pPr algn="l" marL="496567" indent="-248284" lvl="1">
              <a:lnSpc>
                <a:spcPts val="3679"/>
              </a:lnSpc>
              <a:buFont typeface="Arial"/>
              <a:buChar char="•"/>
            </a:pPr>
            <a:r>
              <a:rPr lang="en-US" sz="2299">
                <a:solidFill>
                  <a:srgbClr val="0F172A"/>
                </a:solidFill>
                <a:latin typeface="Inter"/>
                <a:ea typeface="Inter"/>
                <a:cs typeface="Inter"/>
                <a:sym typeface="Inter"/>
              </a:rPr>
              <a:t>Borough Comparison</a:t>
            </a:r>
          </a:p>
          <a:p>
            <a:pPr algn="l" marL="496567" indent="-248284" lvl="1">
              <a:lnSpc>
                <a:spcPts val="3679"/>
              </a:lnSpc>
              <a:buFont typeface="Arial"/>
              <a:buChar char="•"/>
            </a:pPr>
            <a:r>
              <a:rPr lang="en-US" sz="2299">
                <a:solidFill>
                  <a:srgbClr val="0F172A"/>
                </a:solidFill>
                <a:latin typeface="Inter"/>
                <a:ea typeface="Inter"/>
                <a:cs typeface="Inter"/>
                <a:sym typeface="Inter"/>
              </a:rPr>
              <a:t>Host Performance</a:t>
            </a:r>
          </a:p>
          <a:p>
            <a:pPr algn="l" marL="496567" indent="-248284" lvl="1">
              <a:lnSpc>
                <a:spcPts val="3679"/>
              </a:lnSpc>
              <a:buFont typeface="Arial"/>
              <a:buChar char="•"/>
            </a:pPr>
            <a:r>
              <a:rPr lang="en-US" sz="2299">
                <a:solidFill>
                  <a:srgbClr val="0F172A"/>
                </a:solidFill>
                <a:latin typeface="Inter"/>
                <a:ea typeface="Inter"/>
                <a:cs typeface="Inter"/>
                <a:sym typeface="Inter"/>
              </a:rPr>
              <a:t>Customer Reviews</a:t>
            </a:r>
          </a:p>
          <a:p>
            <a:pPr algn="l" marL="496567" indent="-248284" lvl="1">
              <a:lnSpc>
                <a:spcPts val="3679"/>
              </a:lnSpc>
              <a:buFont typeface="Arial"/>
              <a:buChar char="•"/>
            </a:pPr>
            <a:r>
              <a:rPr lang="en-US" sz="2299">
                <a:solidFill>
                  <a:srgbClr val="0F172A"/>
                </a:solidFill>
                <a:latin typeface="Inter"/>
                <a:ea typeface="Inter"/>
                <a:cs typeface="Inter"/>
                <a:sym typeface="Inter"/>
              </a:rPr>
              <a:t>Occupancy Trends</a:t>
            </a:r>
          </a:p>
          <a:p>
            <a:pPr algn="l" marL="496567" indent="-248284" lvl="1">
              <a:lnSpc>
                <a:spcPts val="3679"/>
              </a:lnSpc>
              <a:buFont typeface="Arial"/>
              <a:buChar char="•"/>
            </a:pPr>
            <a:r>
              <a:rPr lang="en-US" sz="2299">
                <a:solidFill>
                  <a:srgbClr val="0F172A"/>
                </a:solidFill>
                <a:latin typeface="Inter"/>
                <a:ea typeface="Inter"/>
                <a:cs typeface="Inter"/>
                <a:sym typeface="Inter"/>
              </a:rPr>
              <a:t>Neighborhood Analysis</a:t>
            </a:r>
          </a:p>
          <a:p>
            <a:pPr algn="l">
              <a:lnSpc>
                <a:spcPts val="3679"/>
              </a:lnSpc>
            </a:pPr>
          </a:p>
        </p:txBody>
      </p:sp>
      <p:sp>
        <p:nvSpPr>
          <p:cNvPr name="TextBox 6" id="6"/>
          <p:cNvSpPr txBox="true"/>
          <p:nvPr/>
        </p:nvSpPr>
        <p:spPr>
          <a:xfrm rot="0">
            <a:off x="10285943" y="3153748"/>
            <a:ext cx="7047136" cy="466725"/>
          </a:xfrm>
          <a:prstGeom prst="rect">
            <a:avLst/>
          </a:prstGeom>
        </p:spPr>
        <p:txBody>
          <a:bodyPr anchor="t" rtlCol="false" tIns="0" lIns="0" bIns="0" rIns="0">
            <a:spAutoFit/>
          </a:bodyPr>
          <a:lstStyle/>
          <a:p>
            <a:pPr algn="l">
              <a:lnSpc>
                <a:spcPts val="3899"/>
              </a:lnSpc>
            </a:pPr>
            <a:r>
              <a:rPr lang="en-US" sz="2999" b="true">
                <a:solidFill>
                  <a:srgbClr val="0F172A"/>
                </a:solidFill>
                <a:latin typeface="Inter Bold"/>
                <a:ea typeface="Inter Bold"/>
                <a:cs typeface="Inter Bold"/>
                <a:sym typeface="Inter Bold"/>
              </a:rPr>
              <a:t>Dashboard KPIs</a:t>
            </a:r>
          </a:p>
        </p:txBody>
      </p:sp>
      <p:sp>
        <p:nvSpPr>
          <p:cNvPr name="TextBox 7" id="7"/>
          <p:cNvSpPr txBox="true"/>
          <p:nvPr/>
        </p:nvSpPr>
        <p:spPr>
          <a:xfrm rot="0">
            <a:off x="10285943" y="3866974"/>
            <a:ext cx="7477741" cy="2769236"/>
          </a:xfrm>
          <a:prstGeom prst="rect">
            <a:avLst/>
          </a:prstGeom>
        </p:spPr>
        <p:txBody>
          <a:bodyPr anchor="t" rtlCol="false" tIns="0" lIns="0" bIns="0" rIns="0">
            <a:spAutoFit/>
          </a:bodyPr>
          <a:lstStyle/>
          <a:p>
            <a:pPr algn="l" marL="496567" indent="-248284" lvl="1">
              <a:lnSpc>
                <a:spcPts val="3679"/>
              </a:lnSpc>
              <a:buFont typeface="Arial"/>
              <a:buChar char="•"/>
            </a:pPr>
            <a:r>
              <a:rPr lang="en-US" sz="2299">
                <a:solidFill>
                  <a:srgbClr val="0F172A"/>
                </a:solidFill>
                <a:latin typeface="Inter"/>
                <a:ea typeface="Inter"/>
                <a:cs typeface="Inter"/>
                <a:sym typeface="Inter"/>
              </a:rPr>
              <a:t>T</a:t>
            </a:r>
            <a:r>
              <a:rPr lang="en-US" sz="2299">
                <a:solidFill>
                  <a:srgbClr val="0F172A"/>
                </a:solidFill>
                <a:latin typeface="Inter"/>
                <a:ea typeface="Inter"/>
                <a:cs typeface="Inter"/>
                <a:sym typeface="Inter"/>
              </a:rPr>
              <a:t>otal Listings</a:t>
            </a:r>
          </a:p>
          <a:p>
            <a:pPr algn="l" marL="496567" indent="-248284" lvl="1">
              <a:lnSpc>
                <a:spcPts val="3679"/>
              </a:lnSpc>
              <a:buFont typeface="Arial"/>
              <a:buChar char="•"/>
            </a:pPr>
            <a:r>
              <a:rPr lang="en-US" sz="2299">
                <a:solidFill>
                  <a:srgbClr val="0F172A"/>
                </a:solidFill>
                <a:latin typeface="Inter"/>
                <a:ea typeface="Inter"/>
                <a:cs typeface="Inter"/>
                <a:sym typeface="Inter"/>
              </a:rPr>
              <a:t>Average Price</a:t>
            </a:r>
          </a:p>
          <a:p>
            <a:pPr algn="l" marL="496567" indent="-248284" lvl="1">
              <a:lnSpc>
                <a:spcPts val="3679"/>
              </a:lnSpc>
              <a:buFont typeface="Arial"/>
              <a:buChar char="•"/>
            </a:pPr>
            <a:r>
              <a:rPr lang="en-US" sz="2299">
                <a:solidFill>
                  <a:srgbClr val="0F172A"/>
                </a:solidFill>
                <a:latin typeface="Inter"/>
                <a:ea typeface="Inter"/>
                <a:cs typeface="Inter"/>
                <a:sym typeface="Inter"/>
              </a:rPr>
              <a:t>Estimated Revenue</a:t>
            </a:r>
          </a:p>
          <a:p>
            <a:pPr algn="l" marL="496567" indent="-248284" lvl="1">
              <a:lnSpc>
                <a:spcPts val="3679"/>
              </a:lnSpc>
              <a:buFont typeface="Arial"/>
              <a:buChar char="•"/>
            </a:pPr>
            <a:r>
              <a:rPr lang="en-US" sz="2299">
                <a:solidFill>
                  <a:srgbClr val="0F172A"/>
                </a:solidFill>
                <a:latin typeface="Inter"/>
                <a:ea typeface="Inter"/>
                <a:cs typeface="Inter"/>
                <a:sym typeface="Inter"/>
              </a:rPr>
              <a:t>Av</a:t>
            </a:r>
            <a:r>
              <a:rPr lang="en-US" sz="2299">
                <a:solidFill>
                  <a:srgbClr val="0F172A"/>
                </a:solidFill>
                <a:latin typeface="Inter"/>
                <a:ea typeface="Inter"/>
                <a:cs typeface="Inter"/>
                <a:sym typeface="Inter"/>
              </a:rPr>
              <a:t>erage Reviews</a:t>
            </a:r>
          </a:p>
          <a:p>
            <a:pPr algn="l" marL="496567" indent="-248284" lvl="1">
              <a:lnSpc>
                <a:spcPts val="3679"/>
              </a:lnSpc>
              <a:buFont typeface="Arial"/>
              <a:buChar char="•"/>
            </a:pPr>
            <a:r>
              <a:rPr lang="en-US" sz="2299">
                <a:solidFill>
                  <a:srgbClr val="0F172A"/>
                </a:solidFill>
                <a:latin typeface="Inter"/>
                <a:ea typeface="Inter"/>
                <a:cs typeface="Inter"/>
                <a:sym typeface="Inter"/>
              </a:rPr>
              <a:t>Occupancy Estimate</a:t>
            </a:r>
          </a:p>
          <a:p>
            <a:pPr algn="l">
              <a:lnSpc>
                <a:spcPts val="3679"/>
              </a:lnSpc>
            </a:pPr>
          </a:p>
        </p:txBody>
      </p:sp>
      <p:grpSp>
        <p:nvGrpSpPr>
          <p:cNvPr name="Group 8" id="8"/>
          <p:cNvGrpSpPr/>
          <p:nvPr/>
        </p:nvGrpSpPr>
        <p:grpSpPr>
          <a:xfrm rot="0">
            <a:off x="1696897" y="8037534"/>
            <a:ext cx="13476676" cy="1178243"/>
            <a:chOff x="0" y="0"/>
            <a:chExt cx="17968901" cy="1570991"/>
          </a:xfrm>
        </p:grpSpPr>
        <p:sp>
          <p:nvSpPr>
            <p:cNvPr name="TextBox 9" id="9"/>
            <p:cNvSpPr txBox="true"/>
            <p:nvPr/>
          </p:nvSpPr>
          <p:spPr>
            <a:xfrm rot="0">
              <a:off x="23427" y="-76200"/>
              <a:ext cx="8961024" cy="552451"/>
            </a:xfrm>
            <a:prstGeom prst="rect">
              <a:avLst/>
            </a:prstGeom>
          </p:spPr>
          <p:txBody>
            <a:bodyPr anchor="t" rtlCol="false" tIns="0" lIns="0" bIns="0" rIns="0">
              <a:spAutoFit/>
            </a:bodyPr>
            <a:lstStyle/>
            <a:p>
              <a:pPr algn="l">
                <a:lnSpc>
                  <a:spcPts val="3562"/>
                </a:lnSpc>
              </a:pPr>
              <a:r>
                <a:rPr lang="en-US" b="true" sz="2374" spc="203">
                  <a:solidFill>
                    <a:srgbClr val="2563EB"/>
                  </a:solidFill>
                  <a:latin typeface="Inter Bold"/>
                  <a:ea typeface="Inter Bold"/>
                  <a:cs typeface="Inter Bold"/>
                  <a:sym typeface="Inter Bold"/>
                </a:rPr>
                <a:t>About Page</a:t>
              </a:r>
            </a:p>
          </p:txBody>
        </p:sp>
        <p:sp>
          <p:nvSpPr>
            <p:cNvPr name="TextBox 10" id="10"/>
            <p:cNvSpPr txBox="true"/>
            <p:nvPr/>
          </p:nvSpPr>
          <p:spPr>
            <a:xfrm rot="0">
              <a:off x="0" y="400051"/>
              <a:ext cx="17968901" cy="1170940"/>
            </a:xfrm>
            <a:prstGeom prst="rect">
              <a:avLst/>
            </a:prstGeom>
          </p:spPr>
          <p:txBody>
            <a:bodyPr anchor="t" rtlCol="false" tIns="0" lIns="0" bIns="0" rIns="0">
              <a:spAutoFit/>
            </a:bodyPr>
            <a:lstStyle/>
            <a:p>
              <a:pPr algn="l" marL="528954" indent="-264477" lvl="1">
                <a:lnSpc>
                  <a:spcPts val="3674"/>
                </a:lnSpc>
                <a:buAutoNum type="arabicPeriod" startAt="1"/>
              </a:pPr>
              <a:r>
                <a:rPr lang="en-US" sz="2449">
                  <a:solidFill>
                    <a:srgbClr val="0F172A"/>
                  </a:solidFill>
                  <a:latin typeface="Inter"/>
                  <a:ea typeface="Inter"/>
                  <a:cs typeface="Inter"/>
                  <a:sym typeface="Inter"/>
                </a:rPr>
                <a:t>Market Overview</a:t>
              </a:r>
            </a:p>
            <a:p>
              <a:pPr algn="l" marL="528954" indent="-264477" lvl="1">
                <a:lnSpc>
                  <a:spcPts val="3674"/>
                </a:lnSpc>
                <a:buAutoNum type="arabicPeriod" startAt="1"/>
              </a:pPr>
              <a:r>
                <a:rPr lang="en-US" sz="2449">
                  <a:solidFill>
                    <a:srgbClr val="0F172A"/>
                  </a:solidFill>
                  <a:latin typeface="Inter"/>
                  <a:ea typeface="Inter"/>
                  <a:cs typeface="Inter"/>
                  <a:sym typeface="Inter"/>
                </a:rPr>
                <a:t>Host &amp; Pricing Strategy</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59854" y="0"/>
            <a:ext cx="16568292" cy="10453567"/>
          </a:xfrm>
          <a:custGeom>
            <a:avLst/>
            <a:gdLst/>
            <a:ahLst/>
            <a:cxnLst/>
            <a:rect r="r" b="b" t="t" l="l"/>
            <a:pathLst>
              <a:path h="10453567" w="16568292">
                <a:moveTo>
                  <a:pt x="0" y="0"/>
                </a:moveTo>
                <a:lnTo>
                  <a:pt x="16568292" y="0"/>
                </a:lnTo>
                <a:lnTo>
                  <a:pt x="16568292" y="10453567"/>
                </a:lnTo>
                <a:lnTo>
                  <a:pt x="0" y="10453567"/>
                </a:lnTo>
                <a:lnTo>
                  <a:pt x="0" y="0"/>
                </a:lnTo>
                <a:close/>
              </a:path>
            </a:pathLst>
          </a:custGeom>
          <a:blipFill>
            <a:blip r:embed="rId2"/>
            <a:stretch>
              <a:fillRect l="-1182" t="0" r="-1182"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3992" y="0"/>
            <a:ext cx="17020015" cy="10287000"/>
          </a:xfrm>
          <a:custGeom>
            <a:avLst/>
            <a:gdLst/>
            <a:ahLst/>
            <a:cxnLst/>
            <a:rect r="r" b="b" t="t" l="l"/>
            <a:pathLst>
              <a:path h="10287000" w="17020015">
                <a:moveTo>
                  <a:pt x="0" y="0"/>
                </a:moveTo>
                <a:lnTo>
                  <a:pt x="17020016" y="0"/>
                </a:lnTo>
                <a:lnTo>
                  <a:pt x="17020016" y="10287000"/>
                </a:lnTo>
                <a:lnTo>
                  <a:pt x="0" y="10287000"/>
                </a:lnTo>
                <a:lnTo>
                  <a:pt x="0" y="0"/>
                </a:lnTo>
                <a:close/>
              </a:path>
            </a:pathLst>
          </a:custGeom>
          <a:blipFill>
            <a:blip r:embed="rId2"/>
            <a:stretch>
              <a:fillRect l="0" t="-1204" r="0" b="-1017"/>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7250" y="9158288"/>
            <a:ext cx="16573500" cy="14288"/>
            <a:chOff x="0" y="0"/>
            <a:chExt cx="22098000" cy="19050"/>
          </a:xfrm>
        </p:grpSpPr>
        <p:sp>
          <p:nvSpPr>
            <p:cNvPr name="Freeform 3" id="3" descr="preencoded.png"/>
            <p:cNvSpPr/>
            <p:nvPr/>
          </p:nvSpPr>
          <p:spPr>
            <a:xfrm flipH="false" flipV="false" rot="0">
              <a:off x="0" y="0"/>
              <a:ext cx="22098000" cy="19050"/>
            </a:xfrm>
            <a:custGeom>
              <a:avLst/>
              <a:gdLst/>
              <a:ahLst/>
              <a:cxnLst/>
              <a:rect r="r" b="b" t="t" l="l"/>
              <a:pathLst>
                <a:path h="19050" w="22098000">
                  <a:moveTo>
                    <a:pt x="0" y="0"/>
                  </a:moveTo>
                  <a:lnTo>
                    <a:pt x="22098000" y="0"/>
                  </a:lnTo>
                  <a:lnTo>
                    <a:pt x="22098000" y="19050"/>
                  </a:lnTo>
                  <a:lnTo>
                    <a:pt x="0" y="19050"/>
                  </a:lnTo>
                  <a:lnTo>
                    <a:pt x="0" y="0"/>
                  </a:lnTo>
                  <a:close/>
                </a:path>
              </a:pathLst>
            </a:custGeom>
            <a:blipFill>
              <a:blip r:embed="rId2"/>
              <a:stretch>
                <a:fillRect l="0" t="-22552644" r="0" b="-22552644"/>
              </a:stretch>
            </a:blipFill>
          </p:spPr>
        </p:sp>
      </p:grpSp>
      <p:sp>
        <p:nvSpPr>
          <p:cNvPr name="TextBox 4" id="4"/>
          <p:cNvSpPr txBox="true"/>
          <p:nvPr/>
        </p:nvSpPr>
        <p:spPr>
          <a:xfrm rot="0">
            <a:off x="1185915" y="868861"/>
            <a:ext cx="3302496" cy="619125"/>
          </a:xfrm>
          <a:prstGeom prst="rect">
            <a:avLst/>
          </a:prstGeom>
        </p:spPr>
        <p:txBody>
          <a:bodyPr anchor="t" rtlCol="false" tIns="0" lIns="0" bIns="0" rIns="0">
            <a:spAutoFit/>
          </a:bodyPr>
          <a:lstStyle/>
          <a:p>
            <a:pPr algn="l">
              <a:lnSpc>
                <a:spcPts val="4979"/>
              </a:lnSpc>
            </a:pPr>
            <a:r>
              <a:rPr lang="en-US" sz="4149" b="true">
                <a:solidFill>
                  <a:srgbClr val="0F172A"/>
                </a:solidFill>
                <a:latin typeface="Inter Bold"/>
                <a:ea typeface="Inter Bold"/>
                <a:cs typeface="Inter Bold"/>
                <a:sym typeface="Inter Bold"/>
              </a:rPr>
              <a:t>Key</a:t>
            </a:r>
            <a:r>
              <a:rPr lang="en-US" sz="4149" b="true">
                <a:solidFill>
                  <a:srgbClr val="0F172A"/>
                </a:solidFill>
                <a:latin typeface="Inter Bold"/>
                <a:ea typeface="Inter Bold"/>
                <a:cs typeface="Inter Bold"/>
                <a:sym typeface="Inter Bold"/>
              </a:rPr>
              <a:t> Findings</a:t>
            </a:r>
          </a:p>
        </p:txBody>
      </p:sp>
      <p:sp>
        <p:nvSpPr>
          <p:cNvPr name="TextBox 5" id="5"/>
          <p:cNvSpPr txBox="true"/>
          <p:nvPr/>
        </p:nvSpPr>
        <p:spPr>
          <a:xfrm rot="0">
            <a:off x="1185915" y="2685189"/>
            <a:ext cx="2789238" cy="521335"/>
          </a:xfrm>
          <a:prstGeom prst="rect">
            <a:avLst/>
          </a:prstGeom>
        </p:spPr>
        <p:txBody>
          <a:bodyPr anchor="t" rtlCol="false" tIns="0" lIns="0" bIns="0" rIns="0">
            <a:spAutoFit/>
          </a:bodyPr>
          <a:lstStyle/>
          <a:p>
            <a:pPr algn="l">
              <a:lnSpc>
                <a:spcPts val="4159"/>
              </a:lnSpc>
            </a:pPr>
            <a:r>
              <a:rPr lang="en-US" sz="3199" b="true">
                <a:solidFill>
                  <a:srgbClr val="0F172A"/>
                </a:solidFill>
                <a:latin typeface="Inter Bold"/>
                <a:ea typeface="Inter Bold"/>
                <a:cs typeface="Inter Bold"/>
                <a:sym typeface="Inter Bold"/>
              </a:rPr>
              <a:t>M</a:t>
            </a:r>
            <a:r>
              <a:rPr lang="en-US" sz="3199" b="true">
                <a:solidFill>
                  <a:srgbClr val="0F172A"/>
                </a:solidFill>
                <a:latin typeface="Inter Bold"/>
                <a:ea typeface="Inter Bold"/>
                <a:cs typeface="Inter Bold"/>
                <a:sym typeface="Inter Bold"/>
              </a:rPr>
              <a:t>ajor Insights</a:t>
            </a:r>
          </a:p>
        </p:txBody>
      </p:sp>
      <p:sp>
        <p:nvSpPr>
          <p:cNvPr name="TextBox 6" id="6"/>
          <p:cNvSpPr txBox="true"/>
          <p:nvPr/>
        </p:nvSpPr>
        <p:spPr>
          <a:xfrm rot="0">
            <a:off x="1400105" y="3413945"/>
            <a:ext cx="11088659" cy="5527200"/>
          </a:xfrm>
          <a:prstGeom prst="rect">
            <a:avLst/>
          </a:prstGeom>
        </p:spPr>
        <p:txBody>
          <a:bodyPr anchor="t" rtlCol="false" tIns="0" lIns="0" bIns="0" rIns="0">
            <a:spAutoFit/>
          </a:bodyPr>
          <a:lstStyle/>
          <a:p>
            <a:pPr algn="l">
              <a:lnSpc>
                <a:spcPts val="4943"/>
              </a:lnSpc>
            </a:pPr>
            <a:r>
              <a:rPr lang="en-US" sz="2824">
                <a:solidFill>
                  <a:srgbClr val="0F172A"/>
                </a:solidFill>
                <a:latin typeface="Inter"/>
                <a:ea typeface="Inter"/>
                <a:cs typeface="Inter"/>
                <a:sym typeface="Inter"/>
              </a:rPr>
              <a:t>✔ Brooklyn dominat</a:t>
            </a:r>
            <a:r>
              <a:rPr lang="en-US" sz="2824">
                <a:solidFill>
                  <a:srgbClr val="0F172A"/>
                </a:solidFill>
                <a:latin typeface="Inter"/>
                <a:ea typeface="Inter"/>
                <a:cs typeface="Inter"/>
                <a:sym typeface="Inter"/>
              </a:rPr>
              <a:t>es the market by listings.</a:t>
            </a:r>
          </a:p>
          <a:p>
            <a:pPr algn="l">
              <a:lnSpc>
                <a:spcPts val="4943"/>
              </a:lnSpc>
            </a:pPr>
            <a:r>
              <a:rPr lang="en-US" sz="2824">
                <a:solidFill>
                  <a:srgbClr val="0F172A"/>
                </a:solidFill>
                <a:latin typeface="Inter"/>
                <a:ea typeface="Inter"/>
                <a:cs typeface="Inter"/>
                <a:sym typeface="Inter"/>
              </a:rPr>
              <a:t>✔ Manhattan commands the highest prices.</a:t>
            </a:r>
          </a:p>
          <a:p>
            <a:pPr algn="l">
              <a:lnSpc>
                <a:spcPts val="4943"/>
              </a:lnSpc>
            </a:pPr>
            <a:r>
              <a:rPr lang="en-US" sz="2824">
                <a:solidFill>
                  <a:srgbClr val="0F172A"/>
                </a:solidFill>
                <a:latin typeface="Inter"/>
                <a:ea typeface="Inter"/>
                <a:cs typeface="Inter"/>
                <a:sym typeface="Inter"/>
              </a:rPr>
              <a:t>✔ Entire Home listings earn the highest nightly rates.</a:t>
            </a:r>
          </a:p>
          <a:p>
            <a:pPr algn="l">
              <a:lnSpc>
                <a:spcPts val="4943"/>
              </a:lnSpc>
            </a:pPr>
            <a:r>
              <a:rPr lang="en-US" sz="2824">
                <a:solidFill>
                  <a:srgbClr val="0F172A"/>
                </a:solidFill>
                <a:latin typeface="Inter"/>
                <a:ea typeface="Inter"/>
                <a:cs typeface="Inter"/>
                <a:sym typeface="Inter"/>
              </a:rPr>
              <a:t>✔ Mid-priced properties maximize occupancy.</a:t>
            </a:r>
          </a:p>
          <a:p>
            <a:pPr algn="l">
              <a:lnSpc>
                <a:spcPts val="4943"/>
              </a:lnSpc>
            </a:pPr>
            <a:r>
              <a:rPr lang="en-US" sz="2824">
                <a:solidFill>
                  <a:srgbClr val="0F172A"/>
                </a:solidFill>
                <a:latin typeface="Inter"/>
                <a:ea typeface="Inter"/>
                <a:cs typeface="Inter"/>
                <a:sym typeface="Inter"/>
              </a:rPr>
              <a:t>✔ Individual hosts outperform professionals.</a:t>
            </a:r>
          </a:p>
          <a:p>
            <a:pPr algn="l">
              <a:lnSpc>
                <a:spcPts val="4943"/>
              </a:lnSpc>
            </a:pPr>
            <a:r>
              <a:rPr lang="en-US" sz="2824">
                <a:solidFill>
                  <a:srgbClr val="0F172A"/>
                </a:solidFill>
                <a:latin typeface="Inter"/>
                <a:ea typeface="Inter"/>
                <a:cs typeface="Inter"/>
                <a:sym typeface="Inter"/>
              </a:rPr>
              <a:t>✔ Flexible minimum stays increase demand.</a:t>
            </a:r>
          </a:p>
          <a:p>
            <a:pPr algn="l">
              <a:lnSpc>
                <a:spcPts val="4943"/>
              </a:lnSpc>
            </a:pPr>
            <a:r>
              <a:rPr lang="en-US" sz="2824">
                <a:solidFill>
                  <a:srgbClr val="0F172A"/>
                </a:solidFill>
                <a:latin typeface="Inter"/>
                <a:ea typeface="Inter"/>
                <a:cs typeface="Inter"/>
                <a:sym typeface="Inter"/>
              </a:rPr>
              <a:t>✔ Review activity peaked in 2019.</a:t>
            </a:r>
          </a:p>
          <a:p>
            <a:pPr algn="l">
              <a:lnSpc>
                <a:spcPts val="4943"/>
              </a:lnSpc>
            </a:pPr>
            <a:r>
              <a:rPr lang="en-US" sz="2824">
                <a:solidFill>
                  <a:srgbClr val="0F172A"/>
                </a:solidFill>
                <a:latin typeface="Inter"/>
                <a:ea typeface="Inter"/>
                <a:cs typeface="Inter"/>
                <a:sym typeface="Inter"/>
              </a:rPr>
              <a:t>✔ Several premium neighborhoods remain underserved.</a:t>
            </a:r>
          </a:p>
          <a:p>
            <a:pPr algn="l">
              <a:lnSpc>
                <a:spcPts val="4943"/>
              </a:lnSpc>
            </a:pPr>
          </a:p>
        </p:txBody>
      </p:sp>
      <p:sp>
        <p:nvSpPr>
          <p:cNvPr name="AutoShape 7" id="7"/>
          <p:cNvSpPr/>
          <p:nvPr/>
        </p:nvSpPr>
        <p:spPr>
          <a:xfrm flipH="true" flipV="true">
            <a:off x="1047750" y="932340"/>
            <a:ext cx="0" cy="453615"/>
          </a:xfrm>
          <a:prstGeom prst="line">
            <a:avLst/>
          </a:prstGeom>
          <a:ln cap="flat" w="66675">
            <a:solidFill>
              <a:srgbClr val="2563EB"/>
            </a:solidFill>
            <a:prstDash val="solid"/>
            <a:headEnd type="none" len="sm" w="sm"/>
            <a:tailEnd type="none" len="sm" w="sm"/>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7250" y="9158288"/>
            <a:ext cx="16573500" cy="14288"/>
            <a:chOff x="0" y="0"/>
            <a:chExt cx="22098000" cy="19050"/>
          </a:xfrm>
        </p:grpSpPr>
        <p:sp>
          <p:nvSpPr>
            <p:cNvPr name="Freeform 3" id="3" descr="preencoded.png"/>
            <p:cNvSpPr/>
            <p:nvPr/>
          </p:nvSpPr>
          <p:spPr>
            <a:xfrm flipH="false" flipV="false" rot="0">
              <a:off x="0" y="0"/>
              <a:ext cx="22098000" cy="19050"/>
            </a:xfrm>
            <a:custGeom>
              <a:avLst/>
              <a:gdLst/>
              <a:ahLst/>
              <a:cxnLst/>
              <a:rect r="r" b="b" t="t" l="l"/>
              <a:pathLst>
                <a:path h="19050" w="22098000">
                  <a:moveTo>
                    <a:pt x="0" y="0"/>
                  </a:moveTo>
                  <a:lnTo>
                    <a:pt x="22098000" y="0"/>
                  </a:lnTo>
                  <a:lnTo>
                    <a:pt x="22098000" y="19050"/>
                  </a:lnTo>
                  <a:lnTo>
                    <a:pt x="0" y="19050"/>
                  </a:lnTo>
                  <a:lnTo>
                    <a:pt x="0" y="0"/>
                  </a:lnTo>
                  <a:close/>
                </a:path>
              </a:pathLst>
            </a:custGeom>
            <a:blipFill>
              <a:blip r:embed="rId2"/>
              <a:stretch>
                <a:fillRect l="0" t="-22552644" r="0" b="-22552644"/>
              </a:stretch>
            </a:blipFill>
          </p:spPr>
        </p:sp>
      </p:grpSp>
      <p:sp>
        <p:nvSpPr>
          <p:cNvPr name="TextBox 4" id="4"/>
          <p:cNvSpPr txBox="true"/>
          <p:nvPr/>
        </p:nvSpPr>
        <p:spPr>
          <a:xfrm rot="0">
            <a:off x="1185915" y="868861"/>
            <a:ext cx="2997002" cy="619125"/>
          </a:xfrm>
          <a:prstGeom prst="rect">
            <a:avLst/>
          </a:prstGeom>
        </p:spPr>
        <p:txBody>
          <a:bodyPr anchor="t" rtlCol="false" tIns="0" lIns="0" bIns="0" rIns="0">
            <a:spAutoFit/>
          </a:bodyPr>
          <a:lstStyle/>
          <a:p>
            <a:pPr algn="l">
              <a:lnSpc>
                <a:spcPts val="4979"/>
              </a:lnSpc>
            </a:pPr>
            <a:r>
              <a:rPr lang="en-US" sz="4149" b="true">
                <a:solidFill>
                  <a:srgbClr val="0F172A"/>
                </a:solidFill>
                <a:latin typeface="Inter Bold"/>
                <a:ea typeface="Inter Bold"/>
                <a:cs typeface="Inter Bold"/>
                <a:sym typeface="Inter Bold"/>
              </a:rPr>
              <a:t> Conclusion</a:t>
            </a:r>
          </a:p>
        </p:txBody>
      </p:sp>
      <p:sp>
        <p:nvSpPr>
          <p:cNvPr name="TextBox 5" id="5"/>
          <p:cNvSpPr txBox="true"/>
          <p:nvPr/>
        </p:nvSpPr>
        <p:spPr>
          <a:xfrm rot="0">
            <a:off x="1047750" y="6148230"/>
            <a:ext cx="8526780" cy="470535"/>
          </a:xfrm>
          <a:prstGeom prst="rect">
            <a:avLst/>
          </a:prstGeom>
        </p:spPr>
        <p:txBody>
          <a:bodyPr anchor="t" rtlCol="false" tIns="0" lIns="0" bIns="0" rIns="0">
            <a:spAutoFit/>
          </a:bodyPr>
          <a:lstStyle/>
          <a:p>
            <a:pPr algn="l">
              <a:lnSpc>
                <a:spcPts val="3974"/>
              </a:lnSpc>
            </a:pPr>
            <a:r>
              <a:rPr lang="en-US" sz="2649" b="true">
                <a:solidFill>
                  <a:srgbClr val="2563EB"/>
                </a:solidFill>
                <a:latin typeface="Inter Bold"/>
                <a:ea typeface="Inter Bold"/>
                <a:cs typeface="Inter Bold"/>
                <a:sym typeface="Inter Bold"/>
              </a:rPr>
              <a:t>K</a:t>
            </a:r>
            <a:r>
              <a:rPr lang="en-US" sz="2649" b="true">
                <a:solidFill>
                  <a:srgbClr val="2563EB"/>
                </a:solidFill>
                <a:latin typeface="Inter Bold"/>
                <a:ea typeface="Inter Bold"/>
                <a:cs typeface="Inter Bold"/>
                <a:sym typeface="Inter Bold"/>
              </a:rPr>
              <a:t>ey Takeaways</a:t>
            </a:r>
          </a:p>
        </p:txBody>
      </p:sp>
      <p:sp>
        <p:nvSpPr>
          <p:cNvPr name="TextBox 6" id="6"/>
          <p:cNvSpPr txBox="true"/>
          <p:nvPr/>
        </p:nvSpPr>
        <p:spPr>
          <a:xfrm rot="0">
            <a:off x="1047750" y="6753548"/>
            <a:ext cx="13096677" cy="2602866"/>
          </a:xfrm>
          <a:prstGeom prst="rect">
            <a:avLst/>
          </a:prstGeom>
        </p:spPr>
        <p:txBody>
          <a:bodyPr anchor="t" rtlCol="false" tIns="0" lIns="0" bIns="0" rIns="0">
            <a:spAutoFit/>
          </a:bodyPr>
          <a:lstStyle/>
          <a:p>
            <a:pPr algn="l" marL="474978" indent="-237489" lvl="1">
              <a:lnSpc>
                <a:spcPts val="3519"/>
              </a:lnSpc>
              <a:buFont typeface="Arial"/>
              <a:buChar char="•"/>
            </a:pPr>
            <a:r>
              <a:rPr lang="en-US" sz="2199">
                <a:solidFill>
                  <a:srgbClr val="000000"/>
                </a:solidFill>
                <a:latin typeface="Inter"/>
                <a:ea typeface="Inter"/>
                <a:cs typeface="Inter"/>
                <a:sym typeface="Inter"/>
              </a:rPr>
              <a:t>Data-d</a:t>
            </a:r>
            <a:r>
              <a:rPr lang="en-US" sz="2199">
                <a:solidFill>
                  <a:srgbClr val="000000"/>
                </a:solidFill>
                <a:latin typeface="Inter"/>
                <a:ea typeface="Inter"/>
                <a:cs typeface="Inter"/>
                <a:sym typeface="Inter"/>
              </a:rPr>
              <a:t>riven pricing improves occupancy.</a:t>
            </a:r>
          </a:p>
          <a:p>
            <a:pPr algn="l" marL="474978" indent="-237489" lvl="1">
              <a:lnSpc>
                <a:spcPts val="3519"/>
              </a:lnSpc>
              <a:buFont typeface="Arial"/>
              <a:buChar char="•"/>
            </a:pPr>
            <a:r>
              <a:rPr lang="en-US" sz="2199">
                <a:solidFill>
                  <a:srgbClr val="000000"/>
                </a:solidFill>
                <a:latin typeface="Inter"/>
                <a:ea typeface="Inter"/>
                <a:cs typeface="Inter"/>
                <a:sym typeface="Inter"/>
              </a:rPr>
              <a:t>Mid-priced listings perform best.</a:t>
            </a:r>
          </a:p>
          <a:p>
            <a:pPr algn="l" marL="474978" indent="-237489" lvl="1">
              <a:lnSpc>
                <a:spcPts val="3519"/>
              </a:lnSpc>
              <a:buFont typeface="Arial"/>
              <a:buChar char="•"/>
            </a:pPr>
            <a:r>
              <a:rPr lang="en-US" sz="2199">
                <a:solidFill>
                  <a:srgbClr val="000000"/>
                </a:solidFill>
                <a:latin typeface="Inter"/>
                <a:ea typeface="Inter"/>
                <a:cs typeface="Inter"/>
                <a:sym typeface="Inter"/>
              </a:rPr>
              <a:t>Individual hosts achieve higher revenue per listing.</a:t>
            </a:r>
          </a:p>
          <a:p>
            <a:pPr algn="l" marL="474978" indent="-237489" lvl="1">
              <a:lnSpc>
                <a:spcPts val="3519"/>
              </a:lnSpc>
              <a:buFont typeface="Arial"/>
              <a:buChar char="•"/>
            </a:pPr>
            <a:r>
              <a:rPr lang="en-US" sz="2199">
                <a:solidFill>
                  <a:srgbClr val="000000"/>
                </a:solidFill>
                <a:latin typeface="Inter"/>
                <a:ea typeface="Inter"/>
                <a:cs typeface="Inter"/>
                <a:sym typeface="Inter"/>
              </a:rPr>
              <a:t>Flexible booking policies increase customer engagement.</a:t>
            </a:r>
          </a:p>
          <a:p>
            <a:pPr algn="l" marL="474978" indent="-237489" lvl="1">
              <a:lnSpc>
                <a:spcPts val="3519"/>
              </a:lnSpc>
              <a:buFont typeface="Arial"/>
              <a:buChar char="•"/>
            </a:pPr>
            <a:r>
              <a:rPr lang="en-US" sz="2199">
                <a:solidFill>
                  <a:srgbClr val="000000"/>
                </a:solidFill>
                <a:latin typeface="Inter"/>
                <a:ea typeface="Inter"/>
                <a:cs typeface="Inter"/>
                <a:sym typeface="Inter"/>
              </a:rPr>
              <a:t>Underserved neighborhoods provide strong expansion opportunities.</a:t>
            </a:r>
          </a:p>
          <a:p>
            <a:pPr algn="l">
              <a:lnSpc>
                <a:spcPts val="3519"/>
              </a:lnSpc>
            </a:pPr>
          </a:p>
        </p:txBody>
      </p:sp>
      <p:sp>
        <p:nvSpPr>
          <p:cNvPr name="TextBox 7" id="7"/>
          <p:cNvSpPr txBox="true"/>
          <p:nvPr/>
        </p:nvSpPr>
        <p:spPr>
          <a:xfrm rot="0">
            <a:off x="1185915" y="3186268"/>
            <a:ext cx="15838096" cy="2164716"/>
          </a:xfrm>
          <a:prstGeom prst="rect">
            <a:avLst/>
          </a:prstGeom>
        </p:spPr>
        <p:txBody>
          <a:bodyPr anchor="t" rtlCol="false" tIns="0" lIns="0" bIns="0" rIns="0">
            <a:spAutoFit/>
          </a:bodyPr>
          <a:lstStyle/>
          <a:p>
            <a:pPr algn="l">
              <a:lnSpc>
                <a:spcPts val="3519"/>
              </a:lnSpc>
            </a:pPr>
            <a:r>
              <a:rPr lang="en-US" sz="2199">
                <a:solidFill>
                  <a:srgbClr val="000000"/>
                </a:solidFill>
                <a:latin typeface="Inter"/>
                <a:ea typeface="Inter"/>
                <a:cs typeface="Inter"/>
                <a:sym typeface="Inter"/>
              </a:rPr>
              <a:t>This proj</a:t>
            </a:r>
            <a:r>
              <a:rPr lang="en-US" sz="2199">
                <a:solidFill>
                  <a:srgbClr val="000000"/>
                </a:solidFill>
                <a:latin typeface="Inter"/>
                <a:ea typeface="Inter"/>
                <a:cs typeface="Inter"/>
                <a:sym typeface="Inter"/>
              </a:rPr>
              <a:t>ect analyzed approximately 48,900 Airbnb listings to understand pricing strategies, demand patterns, host performance, and market opportunities across New York City.</a:t>
            </a:r>
          </a:p>
          <a:p>
            <a:pPr algn="l">
              <a:lnSpc>
                <a:spcPts val="3519"/>
              </a:lnSpc>
            </a:pPr>
          </a:p>
          <a:p>
            <a:pPr algn="l">
              <a:lnSpc>
                <a:spcPts val="3519"/>
              </a:lnSpc>
            </a:pPr>
            <a:r>
              <a:rPr lang="en-US" sz="2199">
                <a:solidFill>
                  <a:srgbClr val="000000"/>
                </a:solidFill>
                <a:latin typeface="Inter"/>
                <a:ea typeface="Inter"/>
                <a:cs typeface="Inter"/>
                <a:sym typeface="Inter"/>
              </a:rPr>
              <a:t>Using Excel, MySQL, and Power BI, the analysis identified the factors that drive occupancy and revenue while uncovering actionable insights for hosts and stakeholders.</a:t>
            </a:r>
          </a:p>
        </p:txBody>
      </p:sp>
      <p:sp>
        <p:nvSpPr>
          <p:cNvPr name="TextBox 8" id="8"/>
          <p:cNvSpPr txBox="true"/>
          <p:nvPr/>
        </p:nvSpPr>
        <p:spPr>
          <a:xfrm rot="0">
            <a:off x="1047750" y="2620483"/>
            <a:ext cx="2856111" cy="432435"/>
          </a:xfrm>
          <a:prstGeom prst="rect">
            <a:avLst/>
          </a:prstGeom>
        </p:spPr>
        <p:txBody>
          <a:bodyPr anchor="t" rtlCol="false" tIns="0" lIns="0" bIns="0" rIns="0">
            <a:spAutoFit/>
          </a:bodyPr>
          <a:lstStyle/>
          <a:p>
            <a:pPr algn="l">
              <a:lnSpc>
                <a:spcPts val="3510"/>
              </a:lnSpc>
            </a:pPr>
            <a:r>
              <a:rPr lang="en-US" sz="2700" b="true">
                <a:solidFill>
                  <a:srgbClr val="0F172A"/>
                </a:solidFill>
                <a:latin typeface="Inter Bold"/>
                <a:ea typeface="Inter Bold"/>
                <a:cs typeface="Inter Bold"/>
                <a:sym typeface="Inter Bold"/>
              </a:rPr>
              <a:t>Pr</a:t>
            </a:r>
            <a:r>
              <a:rPr lang="en-US" sz="2700" b="true">
                <a:solidFill>
                  <a:srgbClr val="0F172A"/>
                </a:solidFill>
                <a:latin typeface="Inter Bold"/>
                <a:ea typeface="Inter Bold"/>
                <a:cs typeface="Inter Bold"/>
                <a:sym typeface="Inter Bold"/>
              </a:rPr>
              <a:t>oject Summary</a:t>
            </a:r>
          </a:p>
        </p:txBody>
      </p:sp>
      <p:sp>
        <p:nvSpPr>
          <p:cNvPr name="AutoShape 9" id="9"/>
          <p:cNvSpPr/>
          <p:nvPr/>
        </p:nvSpPr>
        <p:spPr>
          <a:xfrm flipH="true" flipV="true">
            <a:off x="1047750" y="932340"/>
            <a:ext cx="0" cy="453615"/>
          </a:xfrm>
          <a:prstGeom prst="line">
            <a:avLst/>
          </a:prstGeom>
          <a:ln cap="flat" w="66675">
            <a:solidFill>
              <a:srgbClr val="2563EB"/>
            </a:solidFill>
            <a:prstDash val="solid"/>
            <a:headEnd type="none" len="sm" w="sm"/>
            <a:tailEnd type="none" len="sm" w="sm"/>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7250" y="9158288"/>
            <a:ext cx="16573500" cy="14288"/>
            <a:chOff x="0" y="0"/>
            <a:chExt cx="22098000" cy="19050"/>
          </a:xfrm>
        </p:grpSpPr>
        <p:sp>
          <p:nvSpPr>
            <p:cNvPr name="Freeform 3" id="3" descr="preencoded.png"/>
            <p:cNvSpPr/>
            <p:nvPr/>
          </p:nvSpPr>
          <p:spPr>
            <a:xfrm flipH="false" flipV="false" rot="0">
              <a:off x="0" y="0"/>
              <a:ext cx="22098000" cy="19050"/>
            </a:xfrm>
            <a:custGeom>
              <a:avLst/>
              <a:gdLst/>
              <a:ahLst/>
              <a:cxnLst/>
              <a:rect r="r" b="b" t="t" l="l"/>
              <a:pathLst>
                <a:path h="19050" w="22098000">
                  <a:moveTo>
                    <a:pt x="0" y="0"/>
                  </a:moveTo>
                  <a:lnTo>
                    <a:pt x="22098000" y="0"/>
                  </a:lnTo>
                  <a:lnTo>
                    <a:pt x="22098000" y="19050"/>
                  </a:lnTo>
                  <a:lnTo>
                    <a:pt x="0" y="19050"/>
                  </a:lnTo>
                  <a:lnTo>
                    <a:pt x="0" y="0"/>
                  </a:lnTo>
                  <a:close/>
                </a:path>
              </a:pathLst>
            </a:custGeom>
            <a:blipFill>
              <a:blip r:embed="rId2"/>
              <a:stretch>
                <a:fillRect l="0" t="-22552644" r="0" b="-22552644"/>
              </a:stretch>
            </a:blipFill>
          </p:spPr>
        </p:sp>
      </p:grpSp>
      <p:sp>
        <p:nvSpPr>
          <p:cNvPr name="TextBox 4" id="4"/>
          <p:cNvSpPr txBox="true"/>
          <p:nvPr/>
        </p:nvSpPr>
        <p:spPr>
          <a:xfrm rot="0">
            <a:off x="1185915" y="868861"/>
            <a:ext cx="2812058" cy="628650"/>
          </a:xfrm>
          <a:prstGeom prst="rect">
            <a:avLst/>
          </a:prstGeom>
        </p:spPr>
        <p:txBody>
          <a:bodyPr anchor="t" rtlCol="false" tIns="0" lIns="0" bIns="0" rIns="0">
            <a:spAutoFit/>
          </a:bodyPr>
          <a:lstStyle/>
          <a:p>
            <a:pPr algn="l">
              <a:lnSpc>
                <a:spcPts val="5099"/>
              </a:lnSpc>
            </a:pPr>
            <a:r>
              <a:rPr lang="en-US" sz="4249" b="true">
                <a:solidFill>
                  <a:srgbClr val="0F172A"/>
                </a:solidFill>
                <a:latin typeface="Inter Bold"/>
                <a:ea typeface="Inter Bold"/>
                <a:cs typeface="Inter Bold"/>
                <a:sym typeface="Inter Bold"/>
              </a:rPr>
              <a:t>Thank You</a:t>
            </a:r>
          </a:p>
        </p:txBody>
      </p:sp>
      <p:sp>
        <p:nvSpPr>
          <p:cNvPr name="TextBox 5" id="5"/>
          <p:cNvSpPr txBox="true"/>
          <p:nvPr/>
        </p:nvSpPr>
        <p:spPr>
          <a:xfrm rot="0">
            <a:off x="1001557" y="2376582"/>
            <a:ext cx="8526780" cy="681992"/>
          </a:xfrm>
          <a:prstGeom prst="rect">
            <a:avLst/>
          </a:prstGeom>
        </p:spPr>
        <p:txBody>
          <a:bodyPr anchor="t" rtlCol="false" tIns="0" lIns="0" bIns="0" rIns="0">
            <a:spAutoFit/>
          </a:bodyPr>
          <a:lstStyle/>
          <a:p>
            <a:pPr algn="l">
              <a:lnSpc>
                <a:spcPts val="5774"/>
              </a:lnSpc>
            </a:pPr>
            <a:r>
              <a:rPr lang="en-US" sz="3849" b="true">
                <a:solidFill>
                  <a:srgbClr val="2563EB"/>
                </a:solidFill>
                <a:latin typeface="Inter Bold"/>
                <a:ea typeface="Inter Bold"/>
                <a:cs typeface="Inter Bold"/>
                <a:sym typeface="Inter Bold"/>
              </a:rPr>
              <a:t>Questions &amp; Discussion</a:t>
            </a:r>
          </a:p>
        </p:txBody>
      </p:sp>
      <p:sp>
        <p:nvSpPr>
          <p:cNvPr name="AutoShape 6" id="6"/>
          <p:cNvSpPr/>
          <p:nvPr/>
        </p:nvSpPr>
        <p:spPr>
          <a:xfrm flipH="true" flipV="true">
            <a:off x="1047750" y="932340"/>
            <a:ext cx="0" cy="453615"/>
          </a:xfrm>
          <a:prstGeom prst="line">
            <a:avLst/>
          </a:prstGeom>
          <a:ln cap="flat" w="66675">
            <a:solidFill>
              <a:srgbClr val="2563EB"/>
            </a:solidFill>
            <a:prstDash val="solid"/>
            <a:headEnd type="none" len="sm" w="sm"/>
            <a:tailEnd type="none" len="sm" w="sm"/>
          </a:ln>
        </p:spPr>
      </p:sp>
      <p:grpSp>
        <p:nvGrpSpPr>
          <p:cNvPr name="Group 7" id="7"/>
          <p:cNvGrpSpPr/>
          <p:nvPr/>
        </p:nvGrpSpPr>
        <p:grpSpPr>
          <a:xfrm rot="0">
            <a:off x="12491475" y="6507156"/>
            <a:ext cx="6230809" cy="3416830"/>
            <a:chOff x="0" y="0"/>
            <a:chExt cx="8307746" cy="4555773"/>
          </a:xfrm>
        </p:grpSpPr>
        <p:sp>
          <p:nvSpPr>
            <p:cNvPr name="TextBox 8" id="8"/>
            <p:cNvSpPr txBox="true"/>
            <p:nvPr/>
          </p:nvSpPr>
          <p:spPr>
            <a:xfrm rot="0">
              <a:off x="0" y="-57150"/>
              <a:ext cx="7025902" cy="380095"/>
            </a:xfrm>
            <a:prstGeom prst="rect">
              <a:avLst/>
            </a:prstGeom>
          </p:spPr>
          <p:txBody>
            <a:bodyPr anchor="t" rtlCol="false" tIns="0" lIns="0" bIns="0" rIns="0">
              <a:spAutoFit/>
            </a:bodyPr>
            <a:lstStyle/>
            <a:p>
              <a:pPr algn="l">
                <a:lnSpc>
                  <a:spcPts val="2422"/>
                </a:lnSpc>
              </a:pPr>
              <a:r>
                <a:rPr lang="en-US" b="true" sz="1614" spc="46">
                  <a:solidFill>
                    <a:srgbClr val="64748B"/>
                  </a:solidFill>
                  <a:latin typeface="Inter Bold"/>
                  <a:ea typeface="Inter Bold"/>
                  <a:cs typeface="Inter Bold"/>
                  <a:sym typeface="Inter Bold"/>
                </a:rPr>
                <a:t>Presented By</a:t>
              </a:r>
            </a:p>
          </p:txBody>
        </p:sp>
        <p:sp>
          <p:nvSpPr>
            <p:cNvPr name="TextBox 9" id="9"/>
            <p:cNvSpPr txBox="true"/>
            <p:nvPr/>
          </p:nvSpPr>
          <p:spPr>
            <a:xfrm rot="0">
              <a:off x="0" y="398672"/>
              <a:ext cx="8307746" cy="454861"/>
            </a:xfrm>
            <a:prstGeom prst="rect">
              <a:avLst/>
            </a:prstGeom>
          </p:spPr>
          <p:txBody>
            <a:bodyPr anchor="t" rtlCol="false" tIns="0" lIns="0" bIns="0" rIns="0">
              <a:spAutoFit/>
            </a:bodyPr>
            <a:lstStyle/>
            <a:p>
              <a:pPr algn="l">
                <a:lnSpc>
                  <a:spcPts val="2974"/>
                </a:lnSpc>
              </a:pPr>
              <a:r>
                <a:rPr lang="en-US" sz="1982">
                  <a:solidFill>
                    <a:srgbClr val="0F172A"/>
                  </a:solidFill>
                  <a:latin typeface="Inter"/>
                  <a:ea typeface="Inter"/>
                  <a:cs typeface="Inter"/>
                  <a:sym typeface="Inter"/>
                </a:rPr>
                <a:t>S</a:t>
              </a:r>
              <a:r>
                <a:rPr lang="en-US" sz="1982">
                  <a:solidFill>
                    <a:srgbClr val="0F172A"/>
                  </a:solidFill>
                  <a:latin typeface="Inter"/>
                  <a:ea typeface="Inter"/>
                  <a:cs typeface="Inter"/>
                  <a:sym typeface="Inter"/>
                </a:rPr>
                <a:t>ankalp Singh</a:t>
              </a:r>
            </a:p>
          </p:txBody>
        </p:sp>
        <p:sp>
          <p:nvSpPr>
            <p:cNvPr name="TextBox 10" id="10"/>
            <p:cNvSpPr txBox="true"/>
            <p:nvPr/>
          </p:nvSpPr>
          <p:spPr>
            <a:xfrm rot="0">
              <a:off x="0" y="1197209"/>
              <a:ext cx="7433761" cy="380095"/>
            </a:xfrm>
            <a:prstGeom prst="rect">
              <a:avLst/>
            </a:prstGeom>
          </p:spPr>
          <p:txBody>
            <a:bodyPr anchor="t" rtlCol="false" tIns="0" lIns="0" bIns="0" rIns="0">
              <a:spAutoFit/>
            </a:bodyPr>
            <a:lstStyle/>
            <a:p>
              <a:pPr algn="l">
                <a:lnSpc>
                  <a:spcPts val="2422"/>
                </a:lnSpc>
              </a:pPr>
              <a:r>
                <a:rPr lang="en-US" b="true" sz="1614" spc="46">
                  <a:solidFill>
                    <a:srgbClr val="64748B"/>
                  </a:solidFill>
                  <a:latin typeface="Inter Bold"/>
                  <a:ea typeface="Inter Bold"/>
                  <a:cs typeface="Inter Bold"/>
                  <a:sym typeface="Inter Bold"/>
                </a:rPr>
                <a:t>EMAIL ADDRESS</a:t>
              </a:r>
            </a:p>
          </p:txBody>
        </p:sp>
        <p:sp>
          <p:nvSpPr>
            <p:cNvPr name="TextBox 11" id="11"/>
            <p:cNvSpPr txBox="true"/>
            <p:nvPr/>
          </p:nvSpPr>
          <p:spPr>
            <a:xfrm rot="0">
              <a:off x="0" y="1653031"/>
              <a:ext cx="7812488" cy="454861"/>
            </a:xfrm>
            <a:prstGeom prst="rect">
              <a:avLst/>
            </a:prstGeom>
          </p:spPr>
          <p:txBody>
            <a:bodyPr anchor="t" rtlCol="false" tIns="0" lIns="0" bIns="0" rIns="0">
              <a:spAutoFit/>
            </a:bodyPr>
            <a:lstStyle/>
            <a:p>
              <a:pPr algn="l">
                <a:lnSpc>
                  <a:spcPts val="2974"/>
                </a:lnSpc>
              </a:pPr>
              <a:r>
                <a:rPr lang="en-US" sz="1982">
                  <a:solidFill>
                    <a:srgbClr val="0F172A"/>
                  </a:solidFill>
                  <a:latin typeface="Inter"/>
                  <a:ea typeface="Inter"/>
                  <a:cs typeface="Inter"/>
                  <a:sym typeface="Inter"/>
                </a:rPr>
                <a:t>conn</a:t>
              </a:r>
              <a:r>
                <a:rPr lang="en-US" sz="1982">
                  <a:solidFill>
                    <a:srgbClr val="0F172A"/>
                  </a:solidFill>
                  <a:latin typeface="Inter"/>
                  <a:ea typeface="Inter"/>
                  <a:cs typeface="Inter"/>
                  <a:sym typeface="Inter"/>
                </a:rPr>
                <a:t>ect.sankalpsingh@gmail.com</a:t>
              </a:r>
            </a:p>
          </p:txBody>
        </p:sp>
        <p:sp>
          <p:nvSpPr>
            <p:cNvPr name="TextBox 12" id="12"/>
            <p:cNvSpPr txBox="true"/>
            <p:nvPr/>
          </p:nvSpPr>
          <p:spPr>
            <a:xfrm rot="0">
              <a:off x="0" y="2451568"/>
              <a:ext cx="7637691" cy="380095"/>
            </a:xfrm>
            <a:prstGeom prst="rect">
              <a:avLst/>
            </a:prstGeom>
          </p:spPr>
          <p:txBody>
            <a:bodyPr anchor="t" rtlCol="false" tIns="0" lIns="0" bIns="0" rIns="0">
              <a:spAutoFit/>
            </a:bodyPr>
            <a:lstStyle/>
            <a:p>
              <a:pPr algn="l">
                <a:lnSpc>
                  <a:spcPts val="2422"/>
                </a:lnSpc>
              </a:pPr>
              <a:r>
                <a:rPr lang="en-US" b="true" sz="1614" spc="46">
                  <a:solidFill>
                    <a:srgbClr val="64748B"/>
                  </a:solidFill>
                  <a:latin typeface="Inter Bold"/>
                  <a:ea typeface="Inter Bold"/>
                  <a:cs typeface="Inter Bold"/>
                  <a:sym typeface="Inter Bold"/>
                </a:rPr>
                <a:t>LinkedIn</a:t>
              </a:r>
            </a:p>
          </p:txBody>
        </p:sp>
        <p:sp>
          <p:nvSpPr>
            <p:cNvPr name="TextBox 13" id="13"/>
            <p:cNvSpPr txBox="true"/>
            <p:nvPr/>
          </p:nvSpPr>
          <p:spPr>
            <a:xfrm rot="0">
              <a:off x="0" y="2907390"/>
              <a:ext cx="8307746" cy="454861"/>
            </a:xfrm>
            <a:prstGeom prst="rect">
              <a:avLst/>
            </a:prstGeom>
          </p:spPr>
          <p:txBody>
            <a:bodyPr anchor="t" rtlCol="false" tIns="0" lIns="0" bIns="0" rIns="0">
              <a:spAutoFit/>
            </a:bodyPr>
            <a:lstStyle/>
            <a:p>
              <a:pPr algn="l">
                <a:lnSpc>
                  <a:spcPts val="2974"/>
                </a:lnSpc>
              </a:pPr>
              <a:r>
                <a:rPr lang="en-US" sz="1982">
                  <a:solidFill>
                    <a:srgbClr val="0F172A"/>
                  </a:solidFill>
                  <a:latin typeface="Inter"/>
                  <a:ea typeface="Inter"/>
                  <a:cs typeface="Inter"/>
                  <a:sym typeface="Inter"/>
                </a:rPr>
                <a:t>linkedin.com/in/sankalp</a:t>
              </a:r>
              <a:r>
                <a:rPr lang="en-US" sz="1982">
                  <a:solidFill>
                    <a:srgbClr val="0F172A"/>
                  </a:solidFill>
                  <a:latin typeface="Inter"/>
                  <a:ea typeface="Inter"/>
                  <a:cs typeface="Inter"/>
                  <a:sym typeface="Inter"/>
                </a:rPr>
                <a:t>-singh-ranaut/</a:t>
              </a:r>
            </a:p>
          </p:txBody>
        </p:sp>
        <p:sp>
          <p:nvSpPr>
            <p:cNvPr name="TextBox 14" id="14"/>
            <p:cNvSpPr txBox="true"/>
            <p:nvPr/>
          </p:nvSpPr>
          <p:spPr>
            <a:xfrm rot="0">
              <a:off x="0" y="3645090"/>
              <a:ext cx="7637691" cy="380095"/>
            </a:xfrm>
            <a:prstGeom prst="rect">
              <a:avLst/>
            </a:prstGeom>
          </p:spPr>
          <p:txBody>
            <a:bodyPr anchor="t" rtlCol="false" tIns="0" lIns="0" bIns="0" rIns="0">
              <a:spAutoFit/>
            </a:bodyPr>
            <a:lstStyle/>
            <a:p>
              <a:pPr algn="l">
                <a:lnSpc>
                  <a:spcPts val="2422"/>
                </a:lnSpc>
              </a:pPr>
              <a:r>
                <a:rPr lang="en-US" b="true" sz="1614" spc="46">
                  <a:solidFill>
                    <a:srgbClr val="64748B"/>
                  </a:solidFill>
                  <a:latin typeface="Inter Bold"/>
                  <a:ea typeface="Inter Bold"/>
                  <a:cs typeface="Inter Bold"/>
                  <a:sym typeface="Inter Bold"/>
                </a:rPr>
                <a:t>Git</a:t>
              </a:r>
              <a:r>
                <a:rPr lang="en-US" b="true" sz="1614" spc="46">
                  <a:solidFill>
                    <a:srgbClr val="64748B"/>
                  </a:solidFill>
                  <a:latin typeface="Inter Bold"/>
                  <a:ea typeface="Inter Bold"/>
                  <a:cs typeface="Inter Bold"/>
                  <a:sym typeface="Inter Bold"/>
                </a:rPr>
                <a:t>Hub</a:t>
              </a:r>
            </a:p>
          </p:txBody>
        </p:sp>
        <p:sp>
          <p:nvSpPr>
            <p:cNvPr name="TextBox 15" id="15"/>
            <p:cNvSpPr txBox="true"/>
            <p:nvPr/>
          </p:nvSpPr>
          <p:spPr>
            <a:xfrm rot="0">
              <a:off x="0" y="4100912"/>
              <a:ext cx="8307746" cy="454861"/>
            </a:xfrm>
            <a:prstGeom prst="rect">
              <a:avLst/>
            </a:prstGeom>
          </p:spPr>
          <p:txBody>
            <a:bodyPr anchor="t" rtlCol="false" tIns="0" lIns="0" bIns="0" rIns="0">
              <a:spAutoFit/>
            </a:bodyPr>
            <a:lstStyle/>
            <a:p>
              <a:pPr algn="l">
                <a:lnSpc>
                  <a:spcPts val="2974"/>
                </a:lnSpc>
              </a:pPr>
              <a:r>
                <a:rPr lang="en-US" sz="1982">
                  <a:solidFill>
                    <a:srgbClr val="0F172A"/>
                  </a:solidFill>
                  <a:latin typeface="Inter"/>
                  <a:ea typeface="Inter"/>
                  <a:cs typeface="Inter"/>
                  <a:sym typeface="Inter"/>
                </a:rPr>
                <a:t>github.com/SankalpSinghRanaut</a:t>
              </a:r>
            </a:p>
          </p:txBody>
        </p:sp>
      </p:grpSp>
      <p:sp>
        <p:nvSpPr>
          <p:cNvPr name="TextBox 16" id="16"/>
          <p:cNvSpPr txBox="true"/>
          <p:nvPr/>
        </p:nvSpPr>
        <p:spPr>
          <a:xfrm rot="0">
            <a:off x="1028700" y="3464128"/>
            <a:ext cx="16092161" cy="2671763"/>
          </a:xfrm>
          <a:prstGeom prst="rect">
            <a:avLst/>
          </a:prstGeom>
        </p:spPr>
        <p:txBody>
          <a:bodyPr anchor="t" rtlCol="false" tIns="0" lIns="0" bIns="0" rIns="0">
            <a:spAutoFit/>
          </a:bodyPr>
          <a:lstStyle/>
          <a:p>
            <a:pPr algn="l">
              <a:lnSpc>
                <a:spcPts val="3562"/>
              </a:lnSpc>
              <a:spcBef>
                <a:spcPct val="0"/>
              </a:spcBef>
            </a:pPr>
            <a:r>
              <a:rPr lang="en-US" sz="2374">
                <a:solidFill>
                  <a:srgbClr val="000000"/>
                </a:solidFill>
                <a:latin typeface="Inter"/>
                <a:ea typeface="Inter"/>
                <a:cs typeface="Inter"/>
                <a:sym typeface="Inter"/>
              </a:rPr>
              <a:t>Thank you for your attention.</a:t>
            </a:r>
          </a:p>
          <a:p>
            <a:pPr algn="l">
              <a:lnSpc>
                <a:spcPts val="3562"/>
              </a:lnSpc>
              <a:spcBef>
                <a:spcPct val="0"/>
              </a:spcBef>
            </a:pPr>
          </a:p>
          <a:p>
            <a:pPr algn="l">
              <a:lnSpc>
                <a:spcPts val="3562"/>
              </a:lnSpc>
              <a:spcBef>
                <a:spcPct val="0"/>
              </a:spcBef>
            </a:pPr>
            <a:r>
              <a:rPr lang="en-US" sz="2374">
                <a:solidFill>
                  <a:srgbClr val="000000"/>
                </a:solidFill>
                <a:latin typeface="Inter"/>
                <a:ea typeface="Inter"/>
                <a:cs typeface="Inter"/>
                <a:sym typeface="Inter"/>
              </a:rPr>
              <a:t>I hope this presentation has demonstrated not only my technical skills in Excel, MySQL, and Power BI, but also my ability to translate data into meaningful business insights and actionable recommendations.</a:t>
            </a:r>
          </a:p>
          <a:p>
            <a:pPr algn="l">
              <a:lnSpc>
                <a:spcPts val="3562"/>
              </a:lnSpc>
              <a:spcBef>
                <a:spcPct val="0"/>
              </a:spcBef>
            </a:pPr>
          </a:p>
          <a:p>
            <a:pPr algn="l">
              <a:lnSpc>
                <a:spcPts val="3562"/>
              </a:lnSpc>
              <a:spcBef>
                <a:spcPct val="0"/>
              </a:spcBef>
            </a:pPr>
            <a:r>
              <a:rPr lang="en-US" sz="2374">
                <a:solidFill>
                  <a:srgbClr val="000000"/>
                </a:solidFill>
                <a:latin typeface="Inter"/>
                <a:ea typeface="Inter"/>
                <a:cs typeface="Inter"/>
                <a:sym typeface="Inter"/>
              </a:rPr>
              <a:t>I welcome your questions, feedback, and suggestions.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DAHO50D3x20</dc:identifier>
  <dcterms:modified xsi:type="dcterms:W3CDTF">2011-08-01T06:04:30Z</dcterms:modified>
  <cp:revision>1</cp:revision>
  <dc:title>Airbnb NYC Market Analysis Case Study Presentation</dc:title>
</cp:coreProperties>
</file>